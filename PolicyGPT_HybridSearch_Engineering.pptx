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00D4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902952" y="0"/>
            <a:ext cx="548640" cy="6858000"/>
          </a:xfrm>
          <a:prstGeom prst="rect">
            <a:avLst/>
          </a:prstGeom>
          <a:solidFill>
            <a:srgbClr val="00D4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634472" y="0"/>
            <a:ext cx="548640" cy="6858000"/>
          </a:xfrm>
          <a:prstGeom prst="rect">
            <a:avLst/>
          </a:prstGeom>
          <a:solidFill>
            <a:srgbClr val="38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365992" y="0"/>
            <a:ext cx="548640" cy="68580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097280"/>
            <a:ext cx="2194560" cy="274320"/>
          </a:xfrm>
          <a:prstGeom prst="roundRect">
            <a:avLst>
              <a:gd name="adj" fmla="val 25000"/>
            </a:avLst>
          </a:prstGeom>
          <a:solidFill>
            <a:srgbClr val="00D4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115568"/>
            <a:ext cx="2194560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F172A"/>
                </a:solidFill>
                <a:latin typeface="Segoe UI Semibold"/>
              </a:rPr>
              <a:t>ENGINEERING DEEP DIVE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55448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Segoe UI Semibold"/>
              </a:rPr>
              <a:t>PolicyGPT Hybrid Search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487168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00D4C2"/>
                </a:solidFill>
                <a:latin typeface="Segoe UI Light"/>
              </a:rPr>
              <a:t>Architecture, Data Flows &amp; Domain Optimisation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154680"/>
            <a:ext cx="8229600" cy="16459"/>
          </a:xfrm>
          <a:prstGeom prst="rect">
            <a:avLst/>
          </a:prstGeom>
          <a:solidFill>
            <a:srgbClr val="00D4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329184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BC4D5"/>
                </a:solidFill>
                <a:latin typeface="Segoe UI"/>
              </a:rPr>
              <a:t>A complete engineering walkthrough of how ingestion, vector indexing, hybrid retrieval
and LLM answering combine to deliver accurate, grounded answers over enterprise policy documents.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389120"/>
            <a:ext cx="3291840" cy="329184"/>
          </a:xfrm>
          <a:prstGeom prst="roundRect">
            <a:avLst>
              <a:gd name="adj" fmla="val 10000"/>
            </a:avLst>
          </a:prstGeom>
          <a:solidFill>
            <a:srgbClr val="16233E"/>
          </a:solidFill>
          <a:ln w="9525">
            <a:solidFill>
              <a:srgbClr val="00D4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4416552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BC4D5"/>
                </a:solidFill>
                <a:latin typeface="Segoe UI"/>
              </a:rPr>
              <a:t>  1.  Hybrid Search Concepts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023360" y="4389120"/>
            <a:ext cx="3291840" cy="329184"/>
          </a:xfrm>
          <a:prstGeom prst="roundRect">
            <a:avLst>
              <a:gd name="adj" fmla="val 10000"/>
            </a:avLst>
          </a:prstGeom>
          <a:solidFill>
            <a:srgbClr val="16233E"/>
          </a:solidFill>
          <a:ln w="9525">
            <a:solidFill>
              <a:srgbClr val="00D4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069080" y="4416552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BC4D5"/>
                </a:solidFill>
                <a:latin typeface="Segoe UI"/>
              </a:rPr>
              <a:t>  2.  System Architecture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589520" y="4389120"/>
            <a:ext cx="3291840" cy="329184"/>
          </a:xfrm>
          <a:prstGeom prst="roundRect">
            <a:avLst>
              <a:gd name="adj" fmla="val 10000"/>
            </a:avLst>
          </a:prstGeom>
          <a:solidFill>
            <a:srgbClr val="16233E"/>
          </a:solidFill>
          <a:ln w="9525">
            <a:solidFill>
              <a:srgbClr val="00D4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35240" y="4416552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BC4D5"/>
                </a:solidFill>
                <a:latin typeface="Segoe UI"/>
              </a:rPr>
              <a:t>  3.  Ingestion Flow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4846320"/>
            <a:ext cx="3291840" cy="329184"/>
          </a:xfrm>
          <a:prstGeom prst="roundRect">
            <a:avLst>
              <a:gd name="adj" fmla="val 10000"/>
            </a:avLst>
          </a:prstGeom>
          <a:solidFill>
            <a:srgbClr val="16233E"/>
          </a:solidFill>
          <a:ln w="9525">
            <a:solidFill>
              <a:srgbClr val="00D4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4873752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BC4D5"/>
                </a:solidFill>
                <a:latin typeface="Segoe UI"/>
              </a:rPr>
              <a:t>  4.  Retrieval Flow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023360" y="4846320"/>
            <a:ext cx="3291840" cy="329184"/>
          </a:xfrm>
          <a:prstGeom prst="roundRect">
            <a:avLst>
              <a:gd name="adj" fmla="val 10000"/>
            </a:avLst>
          </a:prstGeom>
          <a:solidFill>
            <a:srgbClr val="16233E"/>
          </a:solidFill>
          <a:ln w="9525">
            <a:solidFill>
              <a:srgbClr val="00D4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069080" y="4873752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BC4D5"/>
                </a:solidFill>
                <a:latin typeface="Segoe UI"/>
              </a:rPr>
              <a:t>  5.  Score Blending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589520" y="4846320"/>
            <a:ext cx="3291840" cy="329184"/>
          </a:xfrm>
          <a:prstGeom prst="roundRect">
            <a:avLst>
              <a:gd name="adj" fmla="val 10000"/>
            </a:avLst>
          </a:prstGeom>
          <a:solidFill>
            <a:srgbClr val="16233E"/>
          </a:solidFill>
          <a:ln w="9525">
            <a:solidFill>
              <a:srgbClr val="00D4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35240" y="4873752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BC4D5"/>
                </a:solidFill>
                <a:latin typeface="Segoe UI"/>
              </a:rPr>
              <a:t>  6.  Domain Optimisation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0A1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0040" y="6638544"/>
            <a:ext cx="9144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6580"/>
                </a:solidFill>
                <a:latin typeface="Segoe UI"/>
              </a:rPr>
              <a:t>PolicyGPT – Hybrid Search Architecture  |  Engineering Review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D4C2"/>
                </a:solidFill>
                <a:latin typeface="Segoe UI Semibold"/>
              </a:rPr>
              <a:t>01 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41148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Segoe UI Semibold"/>
              </a:rPr>
              <a:t>Why Hybrid Search?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97840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BC4D5"/>
                </a:solidFill>
                <a:latin typeface="Segoe UI"/>
              </a:rPr>
              <a:t>No single retrieval method dominates all query types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143000"/>
            <a:ext cx="11521440" cy="16459"/>
          </a:xfrm>
          <a:prstGeom prst="rect">
            <a:avLst/>
          </a:prstGeom>
          <a:solidFill>
            <a:srgbClr val="1E3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20040" y="1280160"/>
            <a:ext cx="3749039" cy="4480560"/>
          </a:xfrm>
          <a:prstGeom prst="roundRect">
            <a:avLst>
              <a:gd name="adj" fmla="val 10000"/>
            </a:avLst>
          </a:prstGeom>
          <a:solidFill>
            <a:srgbClr val="16233E"/>
          </a:solidFill>
          <a:ln w="19050">
            <a:solidFill>
              <a:srgbClr val="388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280160"/>
            <a:ext cx="3749039" cy="73152"/>
          </a:xfrm>
          <a:prstGeom prst="rect">
            <a:avLst/>
          </a:prstGeom>
          <a:solidFill>
            <a:srgbClr val="38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389888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FFFFFF"/>
                </a:solidFill>
                <a:latin typeface="Segoe UI"/>
              </a:rPr>
              <a:t>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435608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388BFF"/>
                </a:solidFill>
                <a:latin typeface="Segoe UI Semibold"/>
              </a:rPr>
              <a:t>BM25 Keyword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" y="1874519"/>
            <a:ext cx="3493008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050" b="1">
                <a:solidFill>
                  <a:srgbClr val="BBC4D5"/>
                </a:solidFill>
                <a:latin typeface="Segoe UI"/>
              </a:rPr>
              <a:t>Sparse term matching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050" b="0">
                <a:solidFill>
                  <a:srgbClr val="FFFFFF"/>
                </a:solidFill>
                <a:latin typeface="Segoe UI"/>
              </a:rPr>
              <a:t/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050" b="0">
                <a:solidFill>
                  <a:srgbClr val="FFFFFF"/>
                </a:solidFill>
                <a:latin typeface="Segoe UI"/>
              </a:rPr>
              <a:t>• Exact clause numbers (Cl. 4.2.1)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050" b="0">
                <a:solidFill>
                  <a:srgbClr val="FFFFFF"/>
                </a:solidFill>
                <a:latin typeface="Segoe UI"/>
              </a:rPr>
              <a:t>• Defined policy terms &amp; acronyms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050" b="0">
                <a:solidFill>
                  <a:srgbClr val="FFFFFF"/>
                </a:solidFill>
                <a:latin typeface="Segoe UI"/>
              </a:rPr>
              <a:t>• Names, dates, rule identifiers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050" b="0">
                <a:solidFill>
                  <a:srgbClr val="FFFFFF"/>
                </a:solidFill>
                <a:latin typeface="Segoe UI"/>
              </a:rPr>
              <a:t/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050" b="0">
                <a:solidFill>
                  <a:srgbClr val="FFFFFF"/>
                </a:solidFill>
                <a:latin typeface="Segoe UI"/>
              </a:rPr>
              <a:t>Strength: Zero ambiguity on exact matches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050" b="0">
                <a:solidFill>
                  <a:srgbClr val="FFFFFF"/>
                </a:solidFill>
                <a:latin typeface="Segoe UI"/>
              </a:rPr>
              <a:t>Weakness: No understanding of meaning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70248" y="1280160"/>
            <a:ext cx="3749039" cy="4480560"/>
          </a:xfrm>
          <a:prstGeom prst="roundRect">
            <a:avLst>
              <a:gd name="adj" fmla="val 10000"/>
            </a:avLst>
          </a:prstGeom>
          <a:solidFill>
            <a:srgbClr val="16233E"/>
          </a:solidFill>
          <a:ln w="19050">
            <a:solidFill>
              <a:srgbClr val="FFB8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70248" y="1280160"/>
            <a:ext cx="3749039" cy="73152"/>
          </a:xfrm>
          <a:prstGeom prst="rect">
            <a:avLst/>
          </a:prstGeom>
          <a:solidFill>
            <a:srgbClr val="FFB8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07408" y="1389888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FFFFFF"/>
                </a:solidFill>
                <a:latin typeface="Segoe UI"/>
              </a:rPr>
              <a:t>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64608" y="1435608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B82C"/>
                </a:solidFill>
                <a:latin typeface="Segoe UI Semibold"/>
              </a:rPr>
              <a:t>More-Like-This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4840" y="1874519"/>
            <a:ext cx="3493008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050" b="1">
                <a:solidFill>
                  <a:srgbClr val="BBC4D5"/>
                </a:solidFill>
                <a:latin typeface="Segoe UI"/>
              </a:rPr>
              <a:t>Vocabulary overlap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050" b="0">
                <a:solidFill>
                  <a:srgbClr val="FFFFFF"/>
                </a:solidFill>
                <a:latin typeface="Segoe UI"/>
              </a:rPr>
              <a:t/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050" b="0">
                <a:solidFill>
                  <a:srgbClr val="FFFFFF"/>
                </a:solidFill>
                <a:latin typeface="Segoe UI"/>
              </a:rPr>
              <a:t>• Paraphrases &amp; synonyms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050" b="0">
                <a:solidFill>
                  <a:srgbClr val="FFFFFF"/>
                </a:solidFill>
                <a:latin typeface="Segoe UI"/>
              </a:rPr>
              <a:t>• Policy jargon vs plain language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050" b="0">
                <a:solidFill>
                  <a:srgbClr val="FFFFFF"/>
                </a:solidFill>
                <a:latin typeface="Segoe UI"/>
              </a:rPr>
              <a:t>• Similar sentence structures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050" b="0">
                <a:solidFill>
                  <a:srgbClr val="FFFFFF"/>
                </a:solidFill>
                <a:latin typeface="Segoe UI"/>
              </a:rPr>
              <a:t/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050" b="0">
                <a:solidFill>
                  <a:srgbClr val="FFFFFF"/>
                </a:solidFill>
                <a:latin typeface="Segoe UI"/>
              </a:rPr>
              <a:t>Strength: Handles linguistic variation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050" b="0">
                <a:solidFill>
                  <a:srgbClr val="FFFFFF"/>
                </a:solidFill>
                <a:latin typeface="Segoe UI"/>
              </a:rPr>
              <a:t>Weakness: Misses pure semantic intent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0456" y="1280160"/>
            <a:ext cx="3749039" cy="4480560"/>
          </a:xfrm>
          <a:prstGeom prst="roundRect">
            <a:avLst>
              <a:gd name="adj" fmla="val 10000"/>
            </a:avLst>
          </a:prstGeom>
          <a:solidFill>
            <a:srgbClr val="16233E"/>
          </a:solidFill>
          <a:ln w="1905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20456" y="1280160"/>
            <a:ext cx="3749039" cy="73152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57616" y="1389888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FFFFFF"/>
                </a:solidFill>
                <a:latin typeface="Segoe UI"/>
              </a:rPr>
              <a:t>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14816" y="1435608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A78BFA"/>
                </a:solidFill>
                <a:latin typeface="Segoe UI Semibold"/>
              </a:rPr>
              <a:t>Vector / kNN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85048" y="1874519"/>
            <a:ext cx="3493008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050" b="1">
                <a:solidFill>
                  <a:srgbClr val="BBC4D5"/>
                </a:solidFill>
                <a:latin typeface="Segoe UI"/>
              </a:rPr>
              <a:t>Dense semantic embedding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050" b="0">
                <a:solidFill>
                  <a:srgbClr val="FFFFFF"/>
                </a:solidFill>
                <a:latin typeface="Segoe UI"/>
              </a:rPr>
              <a:t/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050" b="0">
                <a:solidFill>
                  <a:srgbClr val="FFFFFF"/>
                </a:solidFill>
                <a:latin typeface="Segoe UI"/>
              </a:rPr>
              <a:t>• Intent-based queries (what do I win?)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050" b="0">
                <a:solidFill>
                  <a:srgbClr val="FFFFFF"/>
                </a:solidFill>
                <a:latin typeface="Segoe UI"/>
              </a:rPr>
              <a:t>• Conceptually similar paragraphs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050" b="0">
                <a:solidFill>
                  <a:srgbClr val="FFFFFF"/>
                </a:solidFill>
                <a:latin typeface="Segoe UI"/>
              </a:rPr>
              <a:t>• Cross-lingual or vague phrasing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050" b="0">
                <a:solidFill>
                  <a:srgbClr val="FFFFFF"/>
                </a:solidFill>
                <a:latin typeface="Segoe UI"/>
              </a:rPr>
              <a:t/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050" b="0">
                <a:solidFill>
                  <a:srgbClr val="FFFFFF"/>
                </a:solidFill>
                <a:latin typeface="Segoe UI"/>
              </a:rPr>
              <a:t>Strength: Captures true meaning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050" b="0">
                <a:solidFill>
                  <a:srgbClr val="FFFFFF"/>
                </a:solidFill>
                <a:latin typeface="Segoe UI"/>
              </a:rPr>
              <a:t>Weakness: Can miss exact terminology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20040" y="5870448"/>
            <a:ext cx="11548872" cy="658368"/>
          </a:xfrm>
          <a:prstGeom prst="roundRect">
            <a:avLst>
              <a:gd name="adj" fmla="val 10000"/>
            </a:avLst>
          </a:prstGeom>
          <a:solidFill>
            <a:srgbClr val="00D4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5925312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172A"/>
                </a:solidFill>
                <a:latin typeface="Segoe UI Semibold"/>
              </a:rPr>
              <a:t>✦  Hybrid blends all three simultaneously — weak signals in one channel are compensated by strong signals in another, delivering higher recall AND precision.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0A1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20040" y="6638544"/>
            <a:ext cx="9144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6580"/>
                </a:solidFill>
                <a:latin typeface="Segoe UI"/>
              </a:rPr>
              <a:t>PolicyGPT – Hybrid Search Architecture  |  Engineering Review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D4C2"/>
                </a:solidFill>
                <a:latin typeface="Segoe UI Semibold"/>
              </a:rPr>
              <a:t>02 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41148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Segoe UI Semibold"/>
              </a:rPr>
              <a:t>System Architecture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97840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BC4D5"/>
                </a:solidFill>
                <a:latin typeface="Segoe UI"/>
              </a:rPr>
              <a:t>Three decoupled layers — Ingestion, Index, Retrieval — with a FastAPI serving layer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143000"/>
            <a:ext cx="11521440" cy="16459"/>
          </a:xfrm>
          <a:prstGeom prst="rect">
            <a:avLst/>
          </a:prstGeom>
          <a:solidFill>
            <a:srgbClr val="1E3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20040" y="1207008"/>
            <a:ext cx="3520440" cy="274320"/>
          </a:xfrm>
          <a:prstGeom prst="roundRect">
            <a:avLst>
              <a:gd name="adj" fmla="val 10000"/>
            </a:avLst>
          </a:prstGeom>
          <a:solidFill>
            <a:srgbClr val="FFB8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59" y="1225296"/>
            <a:ext cx="3429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F172A"/>
                </a:solidFill>
                <a:latin typeface="Segoe UI Semibold"/>
              </a:rPr>
              <a:t>INGESTION PIPELINE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06240" y="1207008"/>
            <a:ext cx="3520440" cy="274320"/>
          </a:xfrm>
          <a:prstGeom prst="roundRect">
            <a:avLst>
              <a:gd name="adj" fmla="val 10000"/>
            </a:avLst>
          </a:prstGeom>
          <a:solidFill>
            <a:srgbClr val="00D4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51959" y="1225296"/>
            <a:ext cx="3429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F172A"/>
                </a:solidFill>
                <a:latin typeface="Segoe UI Semibold"/>
              </a:rPr>
              <a:t>OPENSEARCH INDICES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92440" y="1207008"/>
            <a:ext cx="3520440" cy="274320"/>
          </a:xfrm>
          <a:prstGeom prst="roundRect">
            <a:avLst>
              <a:gd name="adj" fmla="val 10000"/>
            </a:avLst>
          </a:prstGeom>
          <a:solidFill>
            <a:srgbClr val="38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38160" y="1225296"/>
            <a:ext cx="3429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F172A"/>
                </a:solidFill>
                <a:latin typeface="Segoe UI Semibold"/>
              </a:rPr>
              <a:t>RETRIEVAL &amp; ANSWER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7472" y="1572768"/>
            <a:ext cx="3474720" cy="621792"/>
          </a:xfrm>
          <a:prstGeom prst="roundRect">
            <a:avLst>
              <a:gd name="adj" fmla="val 10000"/>
            </a:avLst>
          </a:prstGeom>
          <a:solidFill>
            <a:srgbClr val="16233E"/>
          </a:solidFill>
          <a:ln w="9525">
            <a:solidFill>
              <a:srgbClr val="FFB8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5488" y="1618488"/>
            <a:ext cx="3246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Segoe UI Semibold"/>
              </a:rPr>
              <a:t>📄  Raw Documents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" y="1874519"/>
            <a:ext cx="3246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BC4D5"/>
                </a:solidFill>
                <a:latin typeface="Segoe UI"/>
              </a:rPr>
              <a:t>HTML / PDF / TXT / OCR images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084831" y="2194560"/>
            <a:ext cx="0" cy="109728"/>
          </a:xfrm>
          <a:prstGeom prst="line">
            <a:avLst/>
          </a:prstGeom>
          <a:ln w="25400">
            <a:solidFill>
              <a:srgbClr val="FFB8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347472" y="2304288"/>
            <a:ext cx="3474720" cy="621792"/>
          </a:xfrm>
          <a:prstGeom prst="roundRect">
            <a:avLst>
              <a:gd name="adj" fmla="val 10000"/>
            </a:avLst>
          </a:prstGeom>
          <a:solidFill>
            <a:srgbClr val="16233E"/>
          </a:solidFill>
          <a:ln w="9525">
            <a:solidFill>
              <a:srgbClr val="FFB8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5488" y="2350008"/>
            <a:ext cx="3246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Segoe UI Semibold"/>
              </a:rPr>
              <a:t>✂️  Chunker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5488" y="2606040"/>
            <a:ext cx="3246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BC4D5"/>
                </a:solidFill>
                <a:latin typeface="Segoe UI"/>
              </a:rPr>
              <a:t>min 300 / target 1800 / max 3200 chars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084831" y="2926080"/>
            <a:ext cx="0" cy="109728"/>
          </a:xfrm>
          <a:prstGeom prst="line">
            <a:avLst/>
          </a:prstGeom>
          <a:ln w="25400">
            <a:solidFill>
              <a:srgbClr val="FFB8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347472" y="3035808"/>
            <a:ext cx="3474720" cy="621792"/>
          </a:xfrm>
          <a:prstGeom prst="roundRect">
            <a:avLst>
              <a:gd name="adj" fmla="val 10000"/>
            </a:avLst>
          </a:prstGeom>
          <a:solidFill>
            <a:srgbClr val="16233E"/>
          </a:solidFill>
          <a:ln w="9525">
            <a:solidFill>
              <a:srgbClr val="FFB8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5488" y="3081528"/>
            <a:ext cx="3246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Segoe UI Semibold"/>
              </a:rPr>
              <a:t>🏷️  Metadata Extractor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5488" y="3337560"/>
            <a:ext cx="3246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BC4D5"/>
                </a:solidFill>
                <a:latin typeface="Segoe UI"/>
              </a:rPr>
              <a:t>type · version · date · audiences · tags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2084831" y="3657600"/>
            <a:ext cx="0" cy="109728"/>
          </a:xfrm>
          <a:prstGeom prst="line">
            <a:avLst/>
          </a:prstGeom>
          <a:ln w="25400">
            <a:solidFill>
              <a:srgbClr val="FFB8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347472" y="3767328"/>
            <a:ext cx="3474720" cy="621792"/>
          </a:xfrm>
          <a:prstGeom prst="roundRect">
            <a:avLst>
              <a:gd name="adj" fmla="val 10000"/>
            </a:avLst>
          </a:prstGeom>
          <a:solidFill>
            <a:srgbClr val="16233E"/>
          </a:solidFill>
          <a:ln w="9525">
            <a:solidFill>
              <a:srgbClr val="FFB8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75488" y="3813048"/>
            <a:ext cx="3246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Segoe UI Semibold"/>
              </a:rPr>
              <a:t>🧠  LLM Summariser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5488" y="4069080"/>
            <a:ext cx="3246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BC4D5"/>
                </a:solidFill>
                <a:latin typeface="Segoe UI"/>
              </a:rPr>
              <a:t>Section &amp; doc summaries via Bedrock/GPT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2084831" y="4389120"/>
            <a:ext cx="0" cy="109728"/>
          </a:xfrm>
          <a:prstGeom prst="line">
            <a:avLst/>
          </a:prstGeom>
          <a:ln w="25400">
            <a:solidFill>
              <a:srgbClr val="FFB8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347472" y="4498848"/>
            <a:ext cx="3474720" cy="621792"/>
          </a:xfrm>
          <a:prstGeom prst="roundRect">
            <a:avLst>
              <a:gd name="adj" fmla="val 10000"/>
            </a:avLst>
          </a:prstGeom>
          <a:solidFill>
            <a:srgbClr val="16233E"/>
          </a:solidFill>
          <a:ln w="9525">
            <a:solidFill>
              <a:srgbClr val="FFB8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75488" y="4544568"/>
            <a:ext cx="3246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Segoe UI Semibold"/>
              </a:rPr>
              <a:t>📐  Embedder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5488" y="4800600"/>
            <a:ext cx="3246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BC4D5"/>
                </a:solidFill>
                <a:latin typeface="Segoe UI"/>
              </a:rPr>
              <a:t>Amazon Titan embed-text-v2  (1536-dim)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2084831" y="5120640"/>
            <a:ext cx="0" cy="109728"/>
          </a:xfrm>
          <a:prstGeom prst="line">
            <a:avLst/>
          </a:prstGeom>
          <a:ln w="25400">
            <a:solidFill>
              <a:srgbClr val="FFB8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347472" y="5230368"/>
            <a:ext cx="3474720" cy="621792"/>
          </a:xfrm>
          <a:prstGeom prst="roundRect">
            <a:avLst>
              <a:gd name="adj" fmla="val 10000"/>
            </a:avLst>
          </a:prstGeom>
          <a:solidFill>
            <a:srgbClr val="16233E"/>
          </a:solidFill>
          <a:ln w="9525">
            <a:solidFill>
              <a:srgbClr val="FFB8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75488" y="5276088"/>
            <a:ext cx="3246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Segoe UI Semibold"/>
              </a:rPr>
              <a:t>❓  FAQ Generator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75488" y="5532120"/>
            <a:ext cx="3246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BC4D5"/>
                </a:solidFill>
                <a:latin typeface="Segoe UI"/>
              </a:rPr>
              <a:t>Up to 30 Q/A pairs per document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233672" y="1572768"/>
            <a:ext cx="3474720" cy="1078992"/>
          </a:xfrm>
          <a:prstGeom prst="roundRect">
            <a:avLst>
              <a:gd name="adj" fmla="val 10000"/>
            </a:avLst>
          </a:prstGeom>
          <a:solidFill>
            <a:srgbClr val="16233E"/>
          </a:solidFill>
          <a:ln w="12700">
            <a:solidFill>
              <a:srgbClr val="00D4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361688" y="1627632"/>
            <a:ext cx="3246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0D4C2"/>
                </a:solidFill>
                <a:latin typeface="Segoe UI Semibold"/>
              </a:rPr>
              <a:t>policygpt_sections index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361688" y="1920240"/>
            <a:ext cx="32461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BC4D5"/>
                </a:solidFill>
                <a:latin typeface="Segoe UI"/>
              </a:rPr>
              <a:t>section_id · doc_id · raw_text · summary
embedding (knn_vector 1536d) · metadata_tags
audiences · user_ids · domain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233672" y="2779776"/>
            <a:ext cx="3474720" cy="1078992"/>
          </a:xfrm>
          <a:prstGeom prst="roundRect">
            <a:avLst>
              <a:gd name="adj" fmla="val 10000"/>
            </a:avLst>
          </a:prstGeom>
          <a:solidFill>
            <a:srgbClr val="16233E"/>
          </a:solidFill>
          <a:ln w="12700">
            <a:solidFill>
              <a:srgbClr val="388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361688" y="2834640"/>
            <a:ext cx="3246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388BFF"/>
                </a:solidFill>
                <a:latin typeface="Segoe UI Semibold"/>
              </a:rPr>
              <a:t>policygpt_documents index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361688" y="3127248"/>
            <a:ext cx="32461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BC4D5"/>
                </a:solidFill>
                <a:latin typeface="Segoe UI"/>
              </a:rPr>
              <a:t>doc_id · title · type · version · effective_date
keywords · audiences · summary · user_ids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233672" y="3986784"/>
            <a:ext cx="3474720" cy="1078992"/>
          </a:xfrm>
          <a:prstGeom prst="roundRect">
            <a:avLst>
              <a:gd name="adj" fmla="val 10000"/>
            </a:avLst>
          </a:prstGeom>
          <a:solidFill>
            <a:srgbClr val="16233E"/>
          </a:solidFill>
          <a:ln w="127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361688" y="4041648"/>
            <a:ext cx="3246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A78BFA"/>
                </a:solidFill>
                <a:latin typeface="Segoe UI Semibold"/>
              </a:rPr>
              <a:t>policygpt_faqs index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361688" y="4334256"/>
            <a:ext cx="32461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BC4D5"/>
                </a:solidFill>
                <a:latin typeface="Segoe UI"/>
              </a:rPr>
              <a:t>faq_id · question · answer · question_embedding
user_ids · domain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233672" y="5193792"/>
            <a:ext cx="3474720" cy="1078992"/>
          </a:xfrm>
          <a:prstGeom prst="roundRect">
            <a:avLst>
              <a:gd name="adj" fmla="val 10000"/>
            </a:avLst>
          </a:prstGeom>
          <a:solidFill>
            <a:srgbClr val="16233E"/>
          </a:solidFill>
          <a:ln w="12700">
            <a:solidFill>
              <a:srgbClr val="FFB8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361688" y="5248655"/>
            <a:ext cx="3246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B82C"/>
                </a:solidFill>
                <a:latin typeface="Segoe UI Semibold"/>
              </a:rPr>
              <a:t>policygpt_threads index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361688" y="5541264"/>
            <a:ext cx="32461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BC4D5"/>
                </a:solidFill>
                <a:latin typeface="Segoe UI"/>
              </a:rPr>
              <a:t>thread_id · user_id · recent_messages
display_messages · conversation_summary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119872" y="1572768"/>
            <a:ext cx="3749039" cy="768096"/>
          </a:xfrm>
          <a:prstGeom prst="roundRect">
            <a:avLst>
              <a:gd name="adj" fmla="val 10000"/>
            </a:avLst>
          </a:prstGeom>
          <a:solidFill>
            <a:srgbClr val="16233E"/>
          </a:solidFill>
          <a:ln w="9525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247888" y="1627632"/>
            <a:ext cx="3520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34D399"/>
                </a:solidFill>
                <a:latin typeface="Segoe UI Semibold"/>
              </a:rPr>
              <a:t>⚡  FAQ Fast-path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247888" y="1920240"/>
            <a:ext cx="3520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BC4D5"/>
                </a:solidFill>
                <a:latin typeface="Segoe UI"/>
              </a:rPr>
              <a:t>kNN on question_embedding ≥ 0.92 → return immediately
(zero full-RAG cost)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9994392" y="2340864"/>
            <a:ext cx="0" cy="128016"/>
          </a:xfrm>
          <a:prstGeom prst="line">
            <a:avLst/>
          </a:prstGeom>
          <a:ln w="25400">
            <a:solidFill>
              <a:srgbClr val="34D3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Rounded Rectangle 51"/>
          <p:cNvSpPr/>
          <p:nvPr/>
        </p:nvSpPr>
        <p:spPr>
          <a:xfrm>
            <a:off x="8119872" y="2468880"/>
            <a:ext cx="3749039" cy="768096"/>
          </a:xfrm>
          <a:prstGeom prst="roundRect">
            <a:avLst>
              <a:gd name="adj" fmla="val 10000"/>
            </a:avLst>
          </a:prstGeom>
          <a:solidFill>
            <a:srgbClr val="16233E"/>
          </a:solidFill>
          <a:ln w="9525">
            <a:solidFill>
              <a:srgbClr val="00D4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247888" y="2523744"/>
            <a:ext cx="3520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0D4C2"/>
                </a:solidFill>
                <a:latin typeface="Segoe UI Semibold"/>
              </a:rPr>
              <a:t>🔀  HybridSearcher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247888" y="2816352"/>
            <a:ext cx="3520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BC4D5"/>
                </a:solidFill>
                <a:latin typeface="Segoe UI"/>
              </a:rPr>
              <a:t>3 concurrent searches → min-max normalise → weighted blend
Keyword 35% + MLT 15% + kNN 50%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9994392" y="3236976"/>
            <a:ext cx="0" cy="128016"/>
          </a:xfrm>
          <a:prstGeom prst="line">
            <a:avLst/>
          </a:prstGeom>
          <a:ln w="25400">
            <a:solidFill>
              <a:srgbClr val="00D4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Rounded Rectangle 55"/>
          <p:cNvSpPr/>
          <p:nvPr/>
        </p:nvSpPr>
        <p:spPr>
          <a:xfrm>
            <a:off x="8119872" y="3364991"/>
            <a:ext cx="3749039" cy="768096"/>
          </a:xfrm>
          <a:prstGeom prst="roundRect">
            <a:avLst>
              <a:gd name="adj" fmla="val 10000"/>
            </a:avLst>
          </a:prstGeom>
          <a:solidFill>
            <a:srgbClr val="16233E"/>
          </a:solidFill>
          <a:ln w="9525">
            <a:solidFill>
              <a:srgbClr val="388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247888" y="3419856"/>
            <a:ext cx="3520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388BFF"/>
                </a:solidFill>
                <a:latin typeface="Segoe UI Semibold"/>
              </a:rPr>
              <a:t>📊  Reranker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247888" y="3712463"/>
            <a:ext cx="3520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BC4D5"/>
                </a:solidFill>
                <a:latin typeface="Segoe UI"/>
              </a:rPr>
              <a:t>Semantic · lexical · title · metadata weight scoring
Prunes candidates → top sections per doc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9994392" y="4133087"/>
            <a:ext cx="0" cy="128016"/>
          </a:xfrm>
          <a:prstGeom prst="line">
            <a:avLst/>
          </a:prstGeom>
          <a:ln w="25400">
            <a:solidFill>
              <a:srgbClr val="388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Rounded Rectangle 59"/>
          <p:cNvSpPr/>
          <p:nvPr/>
        </p:nvSpPr>
        <p:spPr>
          <a:xfrm>
            <a:off x="8119872" y="4261104"/>
            <a:ext cx="3749039" cy="768096"/>
          </a:xfrm>
          <a:prstGeom prst="roundRect">
            <a:avLst>
              <a:gd name="adj" fmla="val 10000"/>
            </a:avLst>
          </a:prstGeom>
          <a:solidFill>
            <a:srgbClr val="16233E"/>
          </a:solidFill>
          <a:ln w="9525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247888" y="4315968"/>
            <a:ext cx="3520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A78BFA"/>
                </a:solidFill>
                <a:latin typeface="Segoe UI Semibold"/>
              </a:rPr>
              <a:t>🤖  LLM Answer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247888" y="4608576"/>
            <a:ext cx="3520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BC4D5"/>
                </a:solidFill>
                <a:latin typeface="Segoe UI"/>
              </a:rPr>
              <a:t>Evidence + recent_chat injected into prompt
Bedrock 120B / Claude / GPT-5</a:t>
            </a:r>
          </a:p>
        </p:txBody>
      </p:sp>
      <p:cxnSp>
        <p:nvCxnSpPr>
          <p:cNvPr id="63" name="Connector 62"/>
          <p:cNvCxnSpPr/>
          <p:nvPr/>
        </p:nvCxnSpPr>
        <p:spPr>
          <a:xfrm>
            <a:off x="9994392" y="5029200"/>
            <a:ext cx="0" cy="128016"/>
          </a:xfrm>
          <a:prstGeom prst="line">
            <a:avLst/>
          </a:prstGeom>
          <a:ln w="25400">
            <a:solidFill>
              <a:srgbClr val="A78B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Rounded Rectangle 63"/>
          <p:cNvSpPr/>
          <p:nvPr/>
        </p:nvSpPr>
        <p:spPr>
          <a:xfrm>
            <a:off x="8119872" y="5157216"/>
            <a:ext cx="3749039" cy="768096"/>
          </a:xfrm>
          <a:prstGeom prst="roundRect">
            <a:avLst>
              <a:gd name="adj" fmla="val 10000"/>
            </a:avLst>
          </a:prstGeom>
          <a:solidFill>
            <a:srgbClr val="16233E"/>
          </a:solidFill>
          <a:ln w="9525">
            <a:solidFill>
              <a:srgbClr val="FFB8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8247888" y="5212079"/>
            <a:ext cx="3520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B82C"/>
                </a:solidFill>
                <a:latin typeface="Segoe UI Semibold"/>
              </a:rPr>
              <a:t>📝  Thread Store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247888" y="5504688"/>
            <a:ext cx="3520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BC4D5"/>
                </a:solidFill>
                <a:latin typeface="Segoe UI"/>
              </a:rPr>
              <a:t>recent_messages (LLM context)
display_messages (UI history, accumulated in OS)</a:t>
            </a:r>
          </a:p>
        </p:txBody>
      </p:sp>
      <p:cxnSp>
        <p:nvCxnSpPr>
          <p:cNvPr id="67" name="Connector 66"/>
          <p:cNvCxnSpPr/>
          <p:nvPr/>
        </p:nvCxnSpPr>
        <p:spPr>
          <a:xfrm>
            <a:off x="3822191" y="3730752"/>
            <a:ext cx="301753" cy="0"/>
          </a:xfrm>
          <a:prstGeom prst="line">
            <a:avLst/>
          </a:prstGeom>
          <a:ln w="25400">
            <a:solidFill>
              <a:srgbClr val="FFB8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7708392" y="3730752"/>
            <a:ext cx="301752" cy="0"/>
          </a:xfrm>
          <a:prstGeom prst="line">
            <a:avLst/>
          </a:prstGeom>
          <a:ln w="25400">
            <a:solidFill>
              <a:srgbClr val="00D4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Rectangle 68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0A1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320040" y="6638544"/>
            <a:ext cx="9144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6580"/>
                </a:solidFill>
                <a:latin typeface="Segoe UI"/>
              </a:rPr>
              <a:t>PolicyGPT – Hybrid Search Architecture  |  Engineering Review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D4C2"/>
                </a:solidFill>
                <a:latin typeface="Segoe UI Semibold"/>
              </a:rPr>
              <a:t>03  INGESTION DATA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41148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Segoe UI Semibold"/>
              </a:rPr>
              <a:t>Ingestion Pipeline — Step by Step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97840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BC4D5"/>
                </a:solidFill>
                <a:latin typeface="Segoe UI"/>
              </a:rPr>
              <a:t>Documents flow through extraction → enrichment → embedding → indexing, async in background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143000"/>
            <a:ext cx="11521440" cy="16459"/>
          </a:xfrm>
          <a:prstGeom prst="rect">
            <a:avLst/>
          </a:prstGeom>
          <a:solidFill>
            <a:srgbClr val="1E3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20040" y="1280160"/>
            <a:ext cx="2834640" cy="2377440"/>
          </a:xfrm>
          <a:prstGeom prst="roundRect">
            <a:avLst>
              <a:gd name="adj" fmla="val 10000"/>
            </a:avLst>
          </a:prstGeom>
          <a:solidFill>
            <a:srgbClr val="16233E"/>
          </a:solidFill>
          <a:ln w="15240">
            <a:solidFill>
              <a:srgbClr val="FFB8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29768" y="1371600"/>
            <a:ext cx="347472" cy="347472"/>
          </a:xfrm>
          <a:prstGeom prst="roundRect">
            <a:avLst>
              <a:gd name="adj" fmla="val 10000"/>
            </a:avLst>
          </a:prstGeom>
          <a:solidFill>
            <a:srgbClr val="FFB8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9768" y="137160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F172A"/>
                </a:solidFill>
                <a:latin typeface="Segoe UI Semibold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1408176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B82C"/>
                </a:solidFill>
                <a:latin typeface="Segoe UI Semibold"/>
              </a:rPr>
              <a:t>File Discovery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" y="1810512"/>
            <a:ext cx="2633472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BC4D5"/>
                </a:solidFill>
                <a:latin typeface="Segoe UI"/>
              </a:rPr>
              <a:t>Glob patterns: *.html *.htm *.pdf *.txt
Dedup: skip if source_path already in OS
Skip: filenames containing '_summary'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154680" y="2496311"/>
            <a:ext cx="18288" cy="0"/>
          </a:xfrm>
          <a:prstGeom prst="line">
            <a:avLst/>
          </a:prstGeom>
          <a:ln w="25400">
            <a:solidFill>
              <a:srgbClr val="FFB8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282696" y="1280160"/>
            <a:ext cx="2834640" cy="2377440"/>
          </a:xfrm>
          <a:prstGeom prst="roundRect">
            <a:avLst>
              <a:gd name="adj" fmla="val 10000"/>
            </a:avLst>
          </a:prstGeom>
          <a:solidFill>
            <a:srgbClr val="16233E"/>
          </a:solidFill>
          <a:ln w="15240">
            <a:solidFill>
              <a:srgbClr val="FFB8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392424" y="1371600"/>
            <a:ext cx="347472" cy="347472"/>
          </a:xfrm>
          <a:prstGeom prst="roundRect">
            <a:avLst>
              <a:gd name="adj" fmla="val 10000"/>
            </a:avLst>
          </a:prstGeom>
          <a:solidFill>
            <a:srgbClr val="FFB8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92424" y="137160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F172A"/>
                </a:solidFill>
                <a:latin typeface="Segoe UI Semibold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13048" y="1408176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B82C"/>
                </a:solidFill>
                <a:latin typeface="Segoe UI Semibold"/>
              </a:rPr>
              <a:t>Text Extraction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10712" y="1810512"/>
            <a:ext cx="2633472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BC4D5"/>
                </a:solidFill>
                <a:latin typeface="Segoe UI"/>
              </a:rPr>
              <a:t>HTML → BeautifulSoup tag-aware parse
PDF  → pdfminer text + OCR fallback
TXT  → direct read
Images → AWS Textract (OCR, conf ≥ 80%)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117336" y="2496311"/>
            <a:ext cx="18288" cy="0"/>
          </a:xfrm>
          <a:prstGeom prst="line">
            <a:avLst/>
          </a:prstGeom>
          <a:ln w="25400">
            <a:solidFill>
              <a:srgbClr val="FFB8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245352" y="1280160"/>
            <a:ext cx="2834640" cy="2377440"/>
          </a:xfrm>
          <a:prstGeom prst="roundRect">
            <a:avLst>
              <a:gd name="adj" fmla="val 10000"/>
            </a:avLst>
          </a:prstGeom>
          <a:solidFill>
            <a:srgbClr val="16233E"/>
          </a:solidFill>
          <a:ln w="15240">
            <a:solidFill>
              <a:srgbClr val="388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355080" y="1371600"/>
            <a:ext cx="347472" cy="347472"/>
          </a:xfrm>
          <a:prstGeom prst="roundRect">
            <a:avLst>
              <a:gd name="adj" fmla="val 10000"/>
            </a:avLst>
          </a:prstGeom>
          <a:solidFill>
            <a:srgbClr val="38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55080" y="137160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F172A"/>
                </a:solidFill>
                <a:latin typeface="Segoe UI Semibold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75704" y="1408176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388BFF"/>
                </a:solidFill>
                <a:latin typeface="Segoe UI Semibold"/>
              </a:rPr>
              <a:t>Section Chunking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73368" y="1810512"/>
            <a:ext cx="2633472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BC4D5"/>
                </a:solidFill>
                <a:latin typeface="Segoe UI"/>
              </a:rPr>
              <a:t>Target: 1800 chars  |  Min: 300  |  Max: 3200
Preserves heading hierarchy
Assigns order_index per section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9079992" y="2496311"/>
            <a:ext cx="18288" cy="0"/>
          </a:xfrm>
          <a:prstGeom prst="line">
            <a:avLst/>
          </a:prstGeom>
          <a:ln w="25400">
            <a:solidFill>
              <a:srgbClr val="388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9208008" y="1280160"/>
            <a:ext cx="2834640" cy="2377440"/>
          </a:xfrm>
          <a:prstGeom prst="roundRect">
            <a:avLst>
              <a:gd name="adj" fmla="val 10000"/>
            </a:avLst>
          </a:prstGeom>
          <a:solidFill>
            <a:srgbClr val="16233E"/>
          </a:solidFill>
          <a:ln w="15240">
            <a:solidFill>
              <a:srgbClr val="388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9317736" y="1371600"/>
            <a:ext cx="347472" cy="347472"/>
          </a:xfrm>
          <a:prstGeom prst="roundRect">
            <a:avLst>
              <a:gd name="adj" fmla="val 10000"/>
            </a:avLst>
          </a:prstGeom>
          <a:solidFill>
            <a:srgbClr val="38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317736" y="137160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F172A"/>
                </a:solidFill>
                <a:latin typeface="Segoe UI Semibold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38360" y="1408176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388BFF"/>
                </a:solidFill>
                <a:latin typeface="Segoe UI Semibold"/>
              </a:rPr>
              <a:t>Metadata Extraction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36024" y="1810512"/>
            <a:ext cx="2633472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BC4D5"/>
                </a:solidFill>
                <a:latin typeface="Segoe UI"/>
              </a:rPr>
              <a:t>LLM extracts: document_type, version,
effective_date, audiences, keywords,
metadata_tags, entity map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20040" y="3858768"/>
            <a:ext cx="2834640" cy="2377440"/>
          </a:xfrm>
          <a:prstGeom prst="roundRect">
            <a:avLst>
              <a:gd name="adj" fmla="val 10000"/>
            </a:avLst>
          </a:prstGeom>
          <a:solidFill>
            <a:srgbClr val="16233E"/>
          </a:solidFill>
          <a:ln w="15240">
            <a:solidFill>
              <a:srgbClr val="00D4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429768" y="3950207"/>
            <a:ext cx="347472" cy="347472"/>
          </a:xfrm>
          <a:prstGeom prst="roundRect">
            <a:avLst>
              <a:gd name="adj" fmla="val 10000"/>
            </a:avLst>
          </a:prstGeom>
          <a:solidFill>
            <a:srgbClr val="00D4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9768" y="3950207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F172A"/>
                </a:solidFill>
                <a:latin typeface="Segoe UI Semibold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0392" y="3986783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00D4C2"/>
                </a:solidFill>
                <a:latin typeface="Segoe UI Semibold"/>
              </a:rPr>
              <a:t>Summarisation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8056" y="4389120"/>
            <a:ext cx="2633472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BC4D5"/>
                </a:solidFill>
                <a:latin typeface="Segoe UI"/>
              </a:rPr>
              <a:t>Section-level: each section → concise summary
Document-level: map-reduce over section summaries
Recursive merging when input &gt; token budget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3154680" y="5074920"/>
            <a:ext cx="18288" cy="0"/>
          </a:xfrm>
          <a:prstGeom prst="line">
            <a:avLst/>
          </a:prstGeom>
          <a:ln w="25400">
            <a:solidFill>
              <a:srgbClr val="00D4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3282696" y="3858768"/>
            <a:ext cx="2834640" cy="2377440"/>
          </a:xfrm>
          <a:prstGeom prst="roundRect">
            <a:avLst>
              <a:gd name="adj" fmla="val 10000"/>
            </a:avLst>
          </a:prstGeom>
          <a:solidFill>
            <a:srgbClr val="16233E"/>
          </a:solidFill>
          <a:ln w="15240">
            <a:solidFill>
              <a:srgbClr val="00D4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3392424" y="3950207"/>
            <a:ext cx="347472" cy="347472"/>
          </a:xfrm>
          <a:prstGeom prst="roundRect">
            <a:avLst>
              <a:gd name="adj" fmla="val 10000"/>
            </a:avLst>
          </a:prstGeom>
          <a:solidFill>
            <a:srgbClr val="00D4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392424" y="3950207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F172A"/>
                </a:solidFill>
                <a:latin typeface="Segoe UI Semibold"/>
              </a:rPr>
              <a:t>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813048" y="3986783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00D4C2"/>
                </a:solidFill>
                <a:latin typeface="Segoe UI Semibold"/>
              </a:rPr>
              <a:t>Embedding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410712" y="4389120"/>
            <a:ext cx="2633472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BC4D5"/>
                </a:solidFill>
                <a:latin typeface="Segoe UI"/>
              </a:rPr>
              <a:t>Model: amazon.titan-embed-text-v2 (1536-dim)
Input: section summary (not raw text)
L2-normalised for cosine similarity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6117336" y="5074920"/>
            <a:ext cx="18288" cy="0"/>
          </a:xfrm>
          <a:prstGeom prst="line">
            <a:avLst/>
          </a:prstGeom>
          <a:ln w="25400">
            <a:solidFill>
              <a:srgbClr val="00D4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ounded Rectangle 41"/>
          <p:cNvSpPr/>
          <p:nvPr/>
        </p:nvSpPr>
        <p:spPr>
          <a:xfrm>
            <a:off x="6245352" y="3858768"/>
            <a:ext cx="2834640" cy="2377440"/>
          </a:xfrm>
          <a:prstGeom prst="roundRect">
            <a:avLst>
              <a:gd name="adj" fmla="val 10000"/>
            </a:avLst>
          </a:prstGeom>
          <a:solidFill>
            <a:srgbClr val="16233E"/>
          </a:solidFill>
          <a:ln w="1524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6355080" y="3950207"/>
            <a:ext cx="347472" cy="347472"/>
          </a:xfrm>
          <a:prstGeom prst="roundRect">
            <a:avLst>
              <a:gd name="adj" fmla="val 10000"/>
            </a:avLst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355080" y="3950207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F172A"/>
                </a:solidFill>
                <a:latin typeface="Segoe UI Semibold"/>
              </a:rPr>
              <a:t>7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775704" y="3986783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A78BFA"/>
                </a:solidFill>
                <a:latin typeface="Segoe UI Semibold"/>
              </a:rPr>
              <a:t>FAQ Generation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373368" y="4389120"/>
            <a:ext cx="2633472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BC4D5"/>
                </a:solidFill>
                <a:latin typeface="Segoe UI"/>
              </a:rPr>
              <a:t>LLM generates up to 30 Q/A pairs per doc
Each question separately embedded
Stored in _faqs index for fast-path lookup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9079992" y="5074920"/>
            <a:ext cx="18288" cy="0"/>
          </a:xfrm>
          <a:prstGeom prst="line">
            <a:avLst/>
          </a:prstGeom>
          <a:ln w="25400">
            <a:solidFill>
              <a:srgbClr val="A78B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ounded Rectangle 47"/>
          <p:cNvSpPr/>
          <p:nvPr/>
        </p:nvSpPr>
        <p:spPr>
          <a:xfrm>
            <a:off x="9208008" y="3858768"/>
            <a:ext cx="2834640" cy="2377440"/>
          </a:xfrm>
          <a:prstGeom prst="roundRect">
            <a:avLst>
              <a:gd name="adj" fmla="val 10000"/>
            </a:avLst>
          </a:prstGeom>
          <a:solidFill>
            <a:srgbClr val="16233E"/>
          </a:solidFill>
          <a:ln w="1524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9317736" y="3950207"/>
            <a:ext cx="347472" cy="347472"/>
          </a:xfrm>
          <a:prstGeom prst="roundRect">
            <a:avLst>
              <a:gd name="adj" fmla="val 10000"/>
            </a:avLst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317736" y="3950207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F172A"/>
                </a:solidFill>
                <a:latin typeface="Segoe UI Semibold"/>
              </a:rPr>
              <a:t>8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738360" y="3986783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A78BFA"/>
                </a:solidFill>
                <a:latin typeface="Segoe UI Semibold"/>
              </a:rPr>
              <a:t>OS Indexing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336024" y="4389120"/>
            <a:ext cx="2633472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BC4D5"/>
                </a:solidFill>
                <a:latin typeface="Segoe UI"/>
              </a:rPr>
              <a:t>_sections: full section payload + embedding
_documents: doc-level metadata + summary
_faqs: Q/A + question embeddings
user_ids &amp; domain tag on every record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320040" y="6400800"/>
            <a:ext cx="11548872" cy="274320"/>
          </a:xfrm>
          <a:prstGeom prst="roundRect">
            <a:avLst>
              <a:gd name="adj" fmla="val 10000"/>
            </a:avLst>
          </a:prstGeom>
          <a:solidFill>
            <a:srgbClr val="16233E"/>
          </a:solidFill>
          <a:ln w="6350">
            <a:solidFill>
              <a:srgbClr val="00D4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57200" y="6419088"/>
            <a:ext cx="11247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0D4C2"/>
                </a:solidFill>
                <a:latin typeface="Segoe UI"/>
              </a:rPr>
              <a:t>⚡  Background async: server status → 'ready' immediately after bot creation; ingestion runs concurrently; retrieval is fully independent.</a:t>
            </a:r>
          </a:p>
        </p:txBody>
      </p:sp>
      <p:sp>
        <p:nvSpPr>
          <p:cNvPr id="55" name="Rectangle 54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0A1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20040" y="6638544"/>
            <a:ext cx="9144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6580"/>
                </a:solidFill>
                <a:latin typeface="Segoe UI"/>
              </a:rPr>
              <a:t>PolicyGPT – Hybrid Search Architecture  |  Engineering Review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D4C2"/>
                </a:solidFill>
                <a:latin typeface="Segoe UI Semibold"/>
              </a:rPr>
              <a:t>04  RETRIEVAL DATA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41148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Segoe UI Semibold"/>
              </a:rPr>
              <a:t>Retrieval Pipeline — Query to Answer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97840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BC4D5"/>
                </a:solidFill>
                <a:latin typeface="Segoe UI"/>
              </a:rPr>
              <a:t>Every user message goes through analysis → hybrid search → rerank → LLM answer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143000"/>
            <a:ext cx="11521440" cy="16459"/>
          </a:xfrm>
          <a:prstGeom prst="rect">
            <a:avLst/>
          </a:prstGeom>
          <a:solidFill>
            <a:srgbClr val="1E3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52043" y="1261872"/>
            <a:ext cx="1554480" cy="1920240"/>
          </a:xfrm>
          <a:prstGeom prst="roundRect">
            <a:avLst>
              <a:gd name="adj" fmla="val 10000"/>
            </a:avLst>
          </a:prstGeom>
          <a:solidFill>
            <a:srgbClr val="16233E"/>
          </a:solidFill>
          <a:ln w="19050">
            <a:solidFill>
              <a:srgbClr val="00D4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52043" y="1261872"/>
            <a:ext cx="1554480" cy="54864"/>
          </a:xfrm>
          <a:prstGeom prst="rect">
            <a:avLst/>
          </a:prstGeom>
          <a:solidFill>
            <a:srgbClr val="00D4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5195" y="1353312"/>
            <a:ext cx="14081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D4C2"/>
                </a:solidFill>
                <a:latin typeface="Segoe UI Semibold"/>
              </a:rPr>
              <a:t>User Query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5195" y="1673351"/>
            <a:ext cx="1408176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BC4D5"/>
                </a:solidFill>
                <a:latin typeface="Segoe UI"/>
              </a:rPr>
              <a:t>POST /api/chat
thread_id + message
user_id filter applied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906524" y="2249424"/>
            <a:ext cx="36576" cy="0"/>
          </a:xfrm>
          <a:prstGeom prst="line">
            <a:avLst/>
          </a:prstGeom>
          <a:ln w="25400">
            <a:solidFill>
              <a:srgbClr val="00D4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007107" y="1261872"/>
            <a:ext cx="1554480" cy="1920240"/>
          </a:xfrm>
          <a:prstGeom prst="roundRect">
            <a:avLst>
              <a:gd name="adj" fmla="val 10000"/>
            </a:avLst>
          </a:prstGeom>
          <a:solidFill>
            <a:srgbClr val="16233E"/>
          </a:solidFill>
          <a:ln w="19050">
            <a:solidFill>
              <a:srgbClr val="388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007107" y="1261872"/>
            <a:ext cx="1554480" cy="54864"/>
          </a:xfrm>
          <a:prstGeom prst="rect">
            <a:avLst/>
          </a:prstGeom>
          <a:solidFill>
            <a:srgbClr val="38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080260" y="1353312"/>
            <a:ext cx="14081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88BFF"/>
                </a:solidFill>
                <a:latin typeface="Segoe UI Semibold"/>
              </a:rPr>
              <a:t>Query Analyser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80260" y="1673351"/>
            <a:ext cx="1408176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BC4D5"/>
                </a:solidFill>
                <a:latin typeface="Segoe UI"/>
              </a:rPr>
              <a:t>context_dependent?
intents · topic_hints
expanded_terms
canonical_question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561587" y="2249424"/>
            <a:ext cx="36576" cy="0"/>
          </a:xfrm>
          <a:prstGeom prst="line">
            <a:avLst/>
          </a:prstGeom>
          <a:ln w="25400">
            <a:solidFill>
              <a:srgbClr val="388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3662172" y="1261872"/>
            <a:ext cx="1554480" cy="1920240"/>
          </a:xfrm>
          <a:prstGeom prst="roundRect">
            <a:avLst>
              <a:gd name="adj" fmla="val 10000"/>
            </a:avLst>
          </a:prstGeom>
          <a:solidFill>
            <a:srgbClr val="16233E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662172" y="1261872"/>
            <a:ext cx="1554480" cy="54864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735324" y="1353312"/>
            <a:ext cx="14081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4D399"/>
                </a:solidFill>
                <a:latin typeface="Segoe UI Semibold"/>
              </a:rPr>
              <a:t>FAQ Fast-Path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35324" y="1673351"/>
            <a:ext cx="1408176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BC4D5"/>
                </a:solidFill>
                <a:latin typeface="Segoe UI"/>
              </a:rPr>
              <a:t>kNN on _faqs index
cos-sim ≥ 0.92?
→ return immediately
(skips RAG entirely)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216652" y="2249424"/>
            <a:ext cx="36576" cy="0"/>
          </a:xfrm>
          <a:prstGeom prst="line">
            <a:avLst/>
          </a:prstGeom>
          <a:ln w="25400">
            <a:solidFill>
              <a:srgbClr val="34D3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5317236" y="1261872"/>
            <a:ext cx="1554480" cy="1920240"/>
          </a:xfrm>
          <a:prstGeom prst="roundRect">
            <a:avLst>
              <a:gd name="adj" fmla="val 10000"/>
            </a:avLst>
          </a:prstGeom>
          <a:solidFill>
            <a:srgbClr val="16233E"/>
          </a:solidFill>
          <a:ln w="1905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317236" y="1261872"/>
            <a:ext cx="1554480" cy="54864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390388" y="1353312"/>
            <a:ext cx="14081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A78BFA"/>
                </a:solidFill>
                <a:latin typeface="Segoe UI Semibold"/>
              </a:rPr>
              <a:t>Embed Query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90388" y="1673351"/>
            <a:ext cx="1408176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BC4D5"/>
                </a:solidFill>
                <a:latin typeface="Segoe UI"/>
              </a:rPr>
              <a:t>Titan embed-text-v2
1536-dim vector
Original question only
(not expanded terms)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871716" y="2249424"/>
            <a:ext cx="36576" cy="0"/>
          </a:xfrm>
          <a:prstGeom prst="line">
            <a:avLst/>
          </a:prstGeom>
          <a:ln w="25400">
            <a:solidFill>
              <a:srgbClr val="A78B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6972300" y="1261872"/>
            <a:ext cx="1554480" cy="1920240"/>
          </a:xfrm>
          <a:prstGeom prst="roundRect">
            <a:avLst>
              <a:gd name="adj" fmla="val 10000"/>
            </a:avLst>
          </a:prstGeom>
          <a:solidFill>
            <a:srgbClr val="16233E"/>
          </a:solidFill>
          <a:ln w="19050">
            <a:solidFill>
              <a:srgbClr val="00D4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972300" y="1261872"/>
            <a:ext cx="1554480" cy="54864"/>
          </a:xfrm>
          <a:prstGeom prst="rect">
            <a:avLst/>
          </a:prstGeom>
          <a:solidFill>
            <a:srgbClr val="00D4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045452" y="1353312"/>
            <a:ext cx="14081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D4C2"/>
                </a:solidFill>
                <a:latin typeface="Segoe UI Semibold"/>
              </a:rPr>
              <a:t>Hybrid Search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45452" y="1673351"/>
            <a:ext cx="1408176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BC4D5"/>
                </a:solidFill>
                <a:latin typeface="Segoe UI"/>
              </a:rPr>
              <a:t>3 concurrent searches
on _sections index
User filter pre-applied
→ blended candidates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8526780" y="2249424"/>
            <a:ext cx="36576" cy="0"/>
          </a:xfrm>
          <a:prstGeom prst="line">
            <a:avLst/>
          </a:prstGeom>
          <a:ln w="25400">
            <a:solidFill>
              <a:srgbClr val="00D4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8627364" y="1261872"/>
            <a:ext cx="1554480" cy="1920240"/>
          </a:xfrm>
          <a:prstGeom prst="roundRect">
            <a:avLst>
              <a:gd name="adj" fmla="val 10000"/>
            </a:avLst>
          </a:prstGeom>
          <a:solidFill>
            <a:srgbClr val="16233E"/>
          </a:solidFill>
          <a:ln w="19050">
            <a:solidFill>
              <a:srgbClr val="FFB8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627364" y="1261872"/>
            <a:ext cx="1554480" cy="54864"/>
          </a:xfrm>
          <a:prstGeom prst="rect">
            <a:avLst/>
          </a:prstGeom>
          <a:solidFill>
            <a:srgbClr val="FFB8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700516" y="1353312"/>
            <a:ext cx="14081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B82C"/>
                </a:solidFill>
                <a:latin typeface="Segoe UI Semibold"/>
              </a:rPr>
              <a:t>Reranker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700516" y="1673351"/>
            <a:ext cx="1408176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BC4D5"/>
                </a:solidFill>
                <a:latin typeface="Segoe UI"/>
              </a:rPr>
              <a:t>Weight multi-signal score
Semantic+lexical+title
+metadata+parent
Top N sections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10181844" y="2249424"/>
            <a:ext cx="36576" cy="0"/>
          </a:xfrm>
          <a:prstGeom prst="line">
            <a:avLst/>
          </a:prstGeom>
          <a:ln w="25400">
            <a:solidFill>
              <a:srgbClr val="FFB8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10282428" y="1261872"/>
            <a:ext cx="1554480" cy="1920240"/>
          </a:xfrm>
          <a:prstGeom prst="roundRect">
            <a:avLst>
              <a:gd name="adj" fmla="val 10000"/>
            </a:avLst>
          </a:prstGeom>
          <a:solidFill>
            <a:srgbClr val="16233E"/>
          </a:solidFill>
          <a:ln w="19050">
            <a:solidFill>
              <a:srgbClr val="388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0282428" y="1261872"/>
            <a:ext cx="1554480" cy="54864"/>
          </a:xfrm>
          <a:prstGeom prst="rect">
            <a:avLst/>
          </a:prstGeom>
          <a:solidFill>
            <a:srgbClr val="38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355580" y="1353312"/>
            <a:ext cx="14081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88BFF"/>
                </a:solidFill>
                <a:latin typeface="Segoe UI Semibold"/>
              </a:rPr>
              <a:t>LLM Prompt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355580" y="1673351"/>
            <a:ext cx="1408176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BC4D5"/>
                </a:solidFill>
                <a:latin typeface="Segoe UI"/>
              </a:rPr>
              <a:t>Evidence + summaries
recent_chat context
conversation_summary
→ grounded answer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20040" y="3383280"/>
            <a:ext cx="11548872" cy="2606040"/>
          </a:xfrm>
          <a:prstGeom prst="roundRect">
            <a:avLst>
              <a:gd name="adj" fmla="val 10000"/>
            </a:avLst>
          </a:prstGeom>
          <a:solidFill>
            <a:srgbClr val="16233E"/>
          </a:solidFill>
          <a:ln w="6350">
            <a:solidFill>
              <a:srgbClr val="1E3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02920" y="3438144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D4C2"/>
                </a:solidFill>
                <a:latin typeface="Segoe UI Semibold"/>
              </a:rPr>
              <a:t>HYBRID SEARCH INTERNALS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57200" y="3749039"/>
            <a:ext cx="3611880" cy="2057400"/>
          </a:xfrm>
          <a:prstGeom prst="roundRect">
            <a:avLst>
              <a:gd name="adj" fmla="val 10000"/>
            </a:avLst>
          </a:prstGeom>
          <a:solidFill>
            <a:srgbClr val="0F172A"/>
          </a:solidFill>
          <a:ln w="12700">
            <a:solidFill>
              <a:srgbClr val="388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94360" y="3794760"/>
            <a:ext cx="3337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388BFF"/>
                </a:solidFill>
                <a:latin typeface="Segoe UI Semibold"/>
              </a:rPr>
              <a:t>BM25 Keyword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94360" y="4096512"/>
            <a:ext cx="333756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BC4D5"/>
                </a:solidFill>
                <a:latin typeface="Segoe UI"/>
              </a:rPr>
              <a:t>multi_match: best_fields
Fields: section_title^4 · document_title^3
        keywords^3 · summary^2 · raw_text^1
Fuzziness: AUTO  |  Operator: OR
Policy analyzer: lowercase+stop+snowball
→ Raw BM25 score (unbounded)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297680" y="3749039"/>
            <a:ext cx="3611880" cy="2057400"/>
          </a:xfrm>
          <a:prstGeom prst="roundRect">
            <a:avLst>
              <a:gd name="adj" fmla="val 10000"/>
            </a:avLst>
          </a:prstGeom>
          <a:solidFill>
            <a:srgbClr val="0F172A"/>
          </a:solidFill>
          <a:ln w="12700">
            <a:solidFill>
              <a:srgbClr val="FFB8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434840" y="3794760"/>
            <a:ext cx="3337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B82C"/>
                </a:solidFill>
                <a:latin typeface="Segoe UI Semibold"/>
              </a:rPr>
              <a:t>More-Like-This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434840" y="4096512"/>
            <a:ext cx="333756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BC4D5"/>
                </a:solidFill>
                <a:latin typeface="Segoe UI"/>
              </a:rPr>
              <a:t>more_like_this on 3 fields:
raw_text · summary · section_title
min_term_freq=1  min_doc_freq=1
max_query_terms=25
minimum_should_match=30%
→ TF-IDF vocabulary overlap score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138160" y="3749039"/>
            <a:ext cx="3611880" cy="2057400"/>
          </a:xfrm>
          <a:prstGeom prst="roundRect">
            <a:avLst>
              <a:gd name="adj" fmla="val 10000"/>
            </a:avLst>
          </a:prstGeom>
          <a:solidFill>
            <a:srgbClr val="0F172A"/>
          </a:solidFill>
          <a:ln w="127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275320" y="3794760"/>
            <a:ext cx="3337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A78BFA"/>
                </a:solidFill>
                <a:latin typeface="Segoe UI Semibold"/>
              </a:rPr>
              <a:t>Vector kNN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275320" y="4096512"/>
            <a:ext cx="333756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BC4D5"/>
                </a:solidFill>
                <a:latin typeface="Segoe UI"/>
              </a:rPr>
              <a:t>HNSW approximate nearest-neighbour
Space: cosinesimil  |  Engine: lucene
ef_construction=128  M=16
1536-dim Titan embedding
k = max(top_k × 2, rerank_candidates)
→ Cosine similarity [0, 1]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57200" y="6035040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0D4C2"/>
                </a:solidFill>
                <a:latin typeface="Segoe UI Semibold"/>
              </a:rPr>
              <a:t>Blend Formula: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468880" y="6035040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Segoe UI Semibold"/>
              </a:rPr>
              <a:t>score = 0.35 × norm(BM25)  +  0.15 × norm(MLT)  +  0.50 × norm(cosine)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57200" y="630936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6580"/>
                </a:solidFill>
                <a:latin typeface="Segoe UI"/>
              </a:rPr>
              <a:t>Each type min-max normalised to [0,1] independently before blending.</a:t>
            </a:r>
          </a:p>
        </p:txBody>
      </p:sp>
      <p:sp>
        <p:nvSpPr>
          <p:cNvPr id="55" name="Rectangle 54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0A1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20040" y="6638544"/>
            <a:ext cx="9144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6580"/>
                </a:solidFill>
                <a:latin typeface="Segoe UI"/>
              </a:rPr>
              <a:t>PolicyGPT – Hybrid Search Architecture  |  Engineering Review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D4C2"/>
                </a:solidFill>
                <a:latin typeface="Segoe UI Semibold"/>
              </a:rPr>
              <a:t>05  INDEX SCHEMA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41148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Segoe UI Semibold"/>
              </a:rPr>
              <a:t>OpenSearch Index Schema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97840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BC4D5"/>
                </a:solidFill>
                <a:latin typeface="Segoe UI"/>
              </a:rPr>
              <a:t>Four purpose-built indices — each optimised for a different access pattern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143000"/>
            <a:ext cx="11521440" cy="16459"/>
          </a:xfrm>
          <a:prstGeom prst="rect">
            <a:avLst/>
          </a:prstGeom>
          <a:solidFill>
            <a:srgbClr val="1E3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20040" y="1234440"/>
            <a:ext cx="5669280" cy="5166360"/>
          </a:xfrm>
          <a:prstGeom prst="roundRect">
            <a:avLst>
              <a:gd name="adj" fmla="val 10000"/>
            </a:avLst>
          </a:prstGeom>
          <a:solidFill>
            <a:srgbClr val="16233E"/>
          </a:solidFill>
          <a:ln w="19050">
            <a:solidFill>
              <a:srgbClr val="00D4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234440"/>
            <a:ext cx="5669280" cy="64008"/>
          </a:xfrm>
          <a:prstGeom prst="rect">
            <a:avLst/>
          </a:prstGeom>
          <a:solidFill>
            <a:srgbClr val="00D4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" y="1298448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D4C2"/>
                </a:solidFill>
                <a:latin typeface="Segoe UI Semibold"/>
              </a:rPr>
              <a:t>policygpt_sections  (PRIMARY RETRIEVAL INDEX)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664208"/>
            <a:ext cx="2377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Segoe UI Semibold"/>
              </a:rPr>
              <a:t>section_id / doc_id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80360" y="1664208"/>
            <a:ext cx="2926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BC4D5"/>
                </a:solidFill>
                <a:latin typeface="Segoe UI"/>
              </a:rPr>
              <a:t>keyword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084832"/>
            <a:ext cx="2377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Segoe UI Semibold"/>
              </a:rPr>
              <a:t>document_title / section_title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80360" y="2084832"/>
            <a:ext cx="2926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BC4D5"/>
                </a:solidFill>
                <a:latin typeface="Segoe UI"/>
              </a:rPr>
              <a:t>text  [policy_analyzer]  + keyword sub-field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2505456"/>
            <a:ext cx="2377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Segoe UI Semibold"/>
              </a:rPr>
              <a:t>raw_text / summary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80360" y="2505456"/>
            <a:ext cx="2926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BC4D5"/>
                </a:solidFill>
                <a:latin typeface="Segoe UI"/>
              </a:rPr>
              <a:t>text  [policy_analyzer]  — full searchable content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2926080"/>
            <a:ext cx="2377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Segoe UI Semibold"/>
              </a:rPr>
              <a:t>embedding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80360" y="2926080"/>
            <a:ext cx="2926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78BFA"/>
                </a:solidFill>
                <a:latin typeface="Segoe UI"/>
              </a:rPr>
              <a:t>knn_vector dim=1536  HNSW cosinesimil  ef=128 M=16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3346704"/>
            <a:ext cx="2377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Segoe UI Semibold"/>
              </a:rPr>
              <a:t>section_type / metadata_tags / keywords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80360" y="3346704"/>
            <a:ext cx="2926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BC4D5"/>
                </a:solidFill>
                <a:latin typeface="Segoe UI"/>
              </a:rPr>
              <a:t>keyword  — facet filtering &amp; boosting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3767328"/>
            <a:ext cx="2377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Segoe UI Semibold"/>
              </a:rPr>
              <a:t>audiences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80360" y="3767328"/>
            <a:ext cx="2926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BC4D5"/>
                </a:solidFill>
                <a:latin typeface="Segoe UI"/>
              </a:rPr>
              <a:t>keyword  — audience-based access control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4187952"/>
            <a:ext cx="2377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Segoe UI Semibold"/>
              </a:rPr>
              <a:t>user_ids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80360" y="4187952"/>
            <a:ext cx="2926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B82C"/>
                </a:solidFill>
                <a:latin typeface="Segoe UI"/>
              </a:rPr>
              <a:t>keyword[]  — permission pre-filter at query time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4608576"/>
            <a:ext cx="2377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Segoe UI Semibold"/>
              </a:rPr>
              <a:t>domain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880360" y="4608576"/>
            <a:ext cx="2926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BC4D5"/>
                </a:solidFill>
                <a:latin typeface="Segoe UI"/>
              </a:rPr>
              <a:t>keyword  — domain isolation (policy / contest)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5029200"/>
            <a:ext cx="2377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Segoe UI Semibold"/>
              </a:rPr>
              <a:t>order_index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880360" y="5029200"/>
            <a:ext cx="2926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BC4D5"/>
                </a:solidFill>
                <a:latin typeface="Segoe UI"/>
              </a:rPr>
              <a:t>integer  — section order within document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5449824"/>
            <a:ext cx="2377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Segoe UI Semibold"/>
              </a:rPr>
              <a:t>source_path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880360" y="5449824"/>
            <a:ext cx="2926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BC4D5"/>
                </a:solidFill>
                <a:latin typeface="Segoe UI"/>
              </a:rPr>
              <a:t>keyword  — file path for document viewer link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20040" y="5925312"/>
            <a:ext cx="5669280" cy="384048"/>
          </a:xfrm>
          <a:prstGeom prst="roundRect">
            <a:avLst>
              <a:gd name="adj" fmla="val 10000"/>
            </a:avLst>
          </a:prstGeom>
          <a:solidFill>
            <a:srgbClr val="0F172A"/>
          </a:solidFill>
          <a:ln w="6350">
            <a:solidFill>
              <a:srgbClr val="00D4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75488" y="5961888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D4C2"/>
                </a:solidFill>
                <a:latin typeface="Segoe UI"/>
              </a:rPr>
              <a:t>policy_analyzer:  standard tokenizer  →  lowercase  →  stop words  →  snowball stemmer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26480" y="1234440"/>
            <a:ext cx="5715000" cy="1691640"/>
          </a:xfrm>
          <a:prstGeom prst="roundRect">
            <a:avLst>
              <a:gd name="adj" fmla="val 10000"/>
            </a:avLst>
          </a:prstGeom>
          <a:solidFill>
            <a:srgbClr val="16233E"/>
          </a:solidFill>
          <a:ln w="12700">
            <a:solidFill>
              <a:srgbClr val="388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126480" y="1234440"/>
            <a:ext cx="5715000" cy="54864"/>
          </a:xfrm>
          <a:prstGeom prst="rect">
            <a:avLst/>
          </a:prstGeom>
          <a:solidFill>
            <a:srgbClr val="38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63640" y="1307592"/>
            <a:ext cx="5440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388BFF"/>
                </a:solidFill>
                <a:latin typeface="Segoe UI Semibold"/>
              </a:rPr>
              <a:t>policygpt_documents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63640" y="1618488"/>
            <a:ext cx="54406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BC4D5"/>
                </a:solidFill>
                <a:latin typeface="Segoe UI"/>
              </a:rPr>
              <a:t>doc_id · title · document_type · version
effective_date · keywords · metadata_tags
audiences · summary · user_ids · domain
Use: document-level lookup, cache check
     document_indexed_for_path() skip
     search_documents() Google-style UI search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126480" y="3063240"/>
            <a:ext cx="5715000" cy="1691640"/>
          </a:xfrm>
          <a:prstGeom prst="roundRect">
            <a:avLst>
              <a:gd name="adj" fmla="val 10000"/>
            </a:avLst>
          </a:prstGeom>
          <a:solidFill>
            <a:srgbClr val="16233E"/>
          </a:solidFill>
          <a:ln w="127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126480" y="3063240"/>
            <a:ext cx="5715000" cy="54864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263640" y="3136392"/>
            <a:ext cx="5440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A78BFA"/>
                </a:solidFill>
                <a:latin typeface="Segoe UI Semibold"/>
              </a:rPr>
              <a:t>policygpt_faqs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63640" y="3447288"/>
            <a:ext cx="54406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BC4D5"/>
                </a:solidFill>
                <a:latin typeface="Segoe UI"/>
              </a:rPr>
              <a:t>faq_id · doc_id · document_title
question · answer · source_path
question_embedding knn_vector 1536d
user_ids · domain
Use: FAQ fast-path (cos ≥ 0.92 bypass RAG)
     aggregate query evidence (top-30 FAQ hits)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126480" y="4892040"/>
            <a:ext cx="5715000" cy="1691640"/>
          </a:xfrm>
          <a:prstGeom prst="roundRect">
            <a:avLst>
              <a:gd name="adj" fmla="val 10000"/>
            </a:avLst>
          </a:prstGeom>
          <a:solidFill>
            <a:srgbClr val="16233E"/>
          </a:solidFill>
          <a:ln w="12700">
            <a:solidFill>
              <a:srgbClr val="FFB8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126480" y="4892040"/>
            <a:ext cx="5715000" cy="54864"/>
          </a:xfrm>
          <a:prstGeom prst="rect">
            <a:avLst/>
          </a:prstGeom>
          <a:solidFill>
            <a:srgbClr val="FFB8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263640" y="4965192"/>
            <a:ext cx="5440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B82C"/>
                </a:solidFill>
                <a:latin typeface="Segoe UI Semibold"/>
              </a:rPr>
              <a:t>policygpt_threads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63640" y="5276088"/>
            <a:ext cx="54406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BC4D5"/>
                </a:solidFill>
                <a:latin typeface="Segoe UI"/>
              </a:rPr>
              <a:t>thread_id · user_id · title
recent_messages (JSON) → LLM context
display_messages (JSON) → accumulated UI
conversation_summary · active_doc_ids
created_at · updated_at
Use: conversation persistence across restarts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0A1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20040" y="6638544"/>
            <a:ext cx="9144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6580"/>
                </a:solidFill>
                <a:latin typeface="Segoe UI"/>
              </a:rPr>
              <a:t>PolicyGPT – Hybrid Search Architecture  |  Engineering Review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D4C2"/>
                </a:solidFill>
                <a:latin typeface="Segoe UI Semibold"/>
              </a:rPr>
              <a:t>06  SCORE BLENDING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41148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Segoe UI Semibold"/>
              </a:rPr>
              <a:t>Hybrid Score Blending — In Detail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97840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BC4D5"/>
                </a:solidFill>
                <a:latin typeface="Segoe UI"/>
              </a:rPr>
              <a:t>Min-max normalisation → weighted sum → final ranking used by the reranker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143000"/>
            <a:ext cx="11521440" cy="16459"/>
          </a:xfrm>
          <a:prstGeom prst="rect">
            <a:avLst/>
          </a:prstGeom>
          <a:solidFill>
            <a:srgbClr val="1E3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20040" y="1280160"/>
            <a:ext cx="11548872" cy="1188720"/>
          </a:xfrm>
          <a:prstGeom prst="roundRect">
            <a:avLst>
              <a:gd name="adj" fmla="val 10000"/>
            </a:avLst>
          </a:prstGeom>
          <a:solidFill>
            <a:srgbClr val="16233E"/>
          </a:solidFill>
          <a:ln w="15240">
            <a:solidFill>
              <a:srgbClr val="00D4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280160"/>
            <a:ext cx="54864" cy="1188720"/>
          </a:xfrm>
          <a:prstGeom prst="rect">
            <a:avLst/>
          </a:prstGeom>
          <a:solidFill>
            <a:srgbClr val="00D4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335024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D4C2"/>
                </a:solidFill>
                <a:latin typeface="Segoe UI Semibold"/>
              </a:rPr>
              <a:t>Step 1 — Run 3 searches concurrently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627631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BC4D5"/>
                </a:solidFill>
                <a:latin typeface="Segoe UI"/>
              </a:rPr>
              <a:t>ThreadPoolExecutor(max_workers=3) dispatches keyword_search, similarity_search, vector_search in parallel.
Each call applies the user_id pre-filter at the OS level before scoring — no unauthorised sections ever appear.
Over-fetch multiplier: top_k = max(requested × 2, rerank_section_candidates) to give the reranker enough candidates.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0040" y="2596896"/>
            <a:ext cx="11548872" cy="1188720"/>
          </a:xfrm>
          <a:prstGeom prst="roundRect">
            <a:avLst>
              <a:gd name="adj" fmla="val 10000"/>
            </a:avLst>
          </a:prstGeom>
          <a:solidFill>
            <a:srgbClr val="16233E"/>
          </a:solidFill>
          <a:ln w="15240">
            <a:solidFill>
              <a:srgbClr val="FFB8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0040" y="2596896"/>
            <a:ext cx="54864" cy="1188720"/>
          </a:xfrm>
          <a:prstGeom prst="rect">
            <a:avLst/>
          </a:prstGeom>
          <a:solidFill>
            <a:srgbClr val="FFB8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651760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B82C"/>
                </a:solidFill>
                <a:latin typeface="Segoe UI Semibold"/>
              </a:rPr>
              <a:t>Step 2 — Min-max normalise each result set independently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2944368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BC4D5"/>
                </a:solidFill>
                <a:latin typeface="Segoe UI"/>
              </a:rPr>
              <a:t>BM25 scores are unbounded (e.g. 0 – 22). Cosine similarity is in [0,1]. MLT varies.
For each type:  norm_score(x) = (x – min) / (max – min)    [span = 1 if min == max]
Sections appearing in only some result sets receive 0.0 for missing types — they are not penalised beyond that.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20040" y="3913631"/>
            <a:ext cx="11548872" cy="1188720"/>
          </a:xfrm>
          <a:prstGeom prst="roundRect">
            <a:avLst>
              <a:gd name="adj" fmla="val 10000"/>
            </a:avLst>
          </a:prstGeom>
          <a:solidFill>
            <a:srgbClr val="16233E"/>
          </a:solidFill>
          <a:ln w="1524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20040" y="3913631"/>
            <a:ext cx="54864" cy="118872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3968495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A78BFA"/>
                </a:solidFill>
                <a:latin typeface="Segoe UI Semibold"/>
              </a:rPr>
              <a:t>Step 3 — Weighted blend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4261103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BC4D5"/>
                </a:solidFill>
                <a:latin typeface="Segoe UI"/>
              </a:rPr>
              <a:t>final_score = w_keyword × norm_keyword  +  w_similarity × norm_similarity  +  w_vector × norm_vector
Default weights:  keyword=0.30  similarity=0.20  vector=0.50
Policy domain:    keyword=0.35  similarity=0.15  vector=0.50   (exact terms matter more)
Contest domain:   keyword=0.20  similarity=0.15  vector=0.65   (intent queries dominate)
Weights are normalised at runtime — they do not need to sum to 1.0.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20040" y="5230368"/>
            <a:ext cx="11548872" cy="1188720"/>
          </a:xfrm>
          <a:prstGeom prst="roundRect">
            <a:avLst>
              <a:gd name="adj" fmla="val 10000"/>
            </a:avLst>
          </a:prstGeom>
          <a:solidFill>
            <a:srgbClr val="16233E"/>
          </a:solidFill>
          <a:ln w="15240">
            <a:solidFill>
              <a:srgbClr val="388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20040" y="5230368"/>
            <a:ext cx="54864" cy="1188720"/>
          </a:xfrm>
          <a:prstGeom prst="rect">
            <a:avLst/>
          </a:prstGeom>
          <a:solidFill>
            <a:srgbClr val="38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5285232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88BFF"/>
                </a:solidFill>
                <a:latin typeface="Segoe UI Semibold"/>
              </a:rPr>
              <a:t>Step 4 — Downstream reranker re-scores top candidates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55778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BC4D5"/>
                </a:solidFill>
                <a:latin typeface="Segoe UI"/>
              </a:rPr>
              <a:t>Within each document, sections are re-scored using a multi-signal formula:
  section_score = 0.36×semantic + 0.24×lexical + 0.16×parent_doc + 0.12×title + 0.12×metadata
  doc_score     = 0.48×semantic + 0.24×lexical + 0.16×title      + 0.12×metadata
Final top_docs documents and top_sections_per_doc sections passed to LLM evidence context.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20040" y="6437376"/>
            <a:ext cx="11548872" cy="329184"/>
          </a:xfrm>
          <a:prstGeom prst="roundRect">
            <a:avLst>
              <a:gd name="adj" fmla="val 10000"/>
            </a:avLst>
          </a:prstGeom>
          <a:solidFill>
            <a:srgbClr val="0F172A"/>
          </a:solidFill>
          <a:ln w="63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5488" y="6464808"/>
            <a:ext cx="11155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4D399"/>
                </a:solidFill>
                <a:latin typeface="Segoe UI"/>
              </a:rPr>
              <a:t>Example: Section A: BM25=18 (norm=1.0), MLT=0 (norm=0.0), cosine=0.71 (norm=0.85)  →  0.35×1.0 + 0.15×0.0 + 0.50×0.85 = 0.775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0A1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0040" y="6638544"/>
            <a:ext cx="9144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6580"/>
                </a:solidFill>
                <a:latin typeface="Segoe UI"/>
              </a:rPr>
              <a:t>PolicyGPT – Hybrid Search Architecture  |  Engineering Review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D4C2"/>
                </a:solidFill>
                <a:latin typeface="Segoe UI Semibold"/>
              </a:rPr>
              <a:t>07  ACCESS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41148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Segoe UI Semibold"/>
              </a:rPr>
              <a:t>Permission Model &amp; Access Control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97840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BC4D5"/>
                </a:solidFill>
                <a:latin typeface="Segoe UI"/>
              </a:rPr>
              <a:t>user_id pre-filters every search at the index level — no post-hoc filtering needed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143000"/>
            <a:ext cx="11521440" cy="16459"/>
          </a:xfrm>
          <a:prstGeom prst="rect">
            <a:avLst/>
          </a:prstGeom>
          <a:solidFill>
            <a:srgbClr val="1E3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20040" y="1261872"/>
            <a:ext cx="5394960" cy="2377440"/>
          </a:xfrm>
          <a:prstGeom prst="roundRect">
            <a:avLst>
              <a:gd name="adj" fmla="val 10000"/>
            </a:avLst>
          </a:prstGeom>
          <a:solidFill>
            <a:srgbClr val="16233E"/>
          </a:solidFill>
          <a:ln w="15240">
            <a:solidFill>
              <a:srgbClr val="FFB8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1316736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B82C"/>
                </a:solidFill>
                <a:latin typeface="Segoe UI Semibold"/>
              </a:rPr>
              <a:t>INGESTION — Permission Assignment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1645920"/>
            <a:ext cx="51206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BC4D5"/>
                </a:solidFill>
                <a:latin typeface="Segoe UI"/>
              </a:rPr>
              <a:t>1.  Config.ingestion_user_ids  (env: POLICY_GPT_INGESTION_USER_IDS)
    Comma-separated list of user IDs granted access to ALL documents.
2.  Every section and document record stored with:
    user_ids: ["100", "200", "301"]  (keyword array)
3.  FAQs inherit user_ids from their parent document.
4.  Threads store user_id for listing and isolation.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715000" y="2450591"/>
            <a:ext cx="393192" cy="0"/>
          </a:xfrm>
          <a:prstGeom prst="line">
            <a:avLst/>
          </a:prstGeom>
          <a:ln w="25400">
            <a:solidFill>
              <a:srgbClr val="FFB8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217920" y="1261872"/>
            <a:ext cx="5650992" cy="2377440"/>
          </a:xfrm>
          <a:prstGeom prst="roundRect">
            <a:avLst>
              <a:gd name="adj" fmla="val 10000"/>
            </a:avLst>
          </a:prstGeom>
          <a:solidFill>
            <a:srgbClr val="16233E"/>
          </a:solidFill>
          <a:ln w="15240">
            <a:solidFill>
              <a:srgbClr val="00D4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73368" y="1316736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0D4C2"/>
                </a:solidFill>
                <a:latin typeface="Segoe UI Semibold"/>
              </a:rPr>
              <a:t>RETRIEVAL — Permission Enforcement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73368" y="1645920"/>
            <a:ext cx="53949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BC4D5"/>
                </a:solidFill>
                <a:latin typeface="Segoe UI"/>
              </a:rPr>
              <a:t>1.  user_id resolved from: URL ?user_id= param → cookie → empty.
2.  If hybrid_search_enabled=True and user_id is empty → HTTP 401.
3.  Every search query wraps the scoring clause in a bool/filter:
    { "filter": [ {"terms": {"user_ids": ["100"]}} ] }
    Applied BEFORE scoring — zero-cost, OS-native.
4.  Result: only sections the user is entitled to ever surface.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0040" y="3749039"/>
            <a:ext cx="11548872" cy="1828800"/>
          </a:xfrm>
          <a:prstGeom prst="roundRect">
            <a:avLst>
              <a:gd name="adj" fmla="val 10000"/>
            </a:avLst>
          </a:prstGeom>
          <a:solidFill>
            <a:srgbClr val="0A101E"/>
          </a:solidFill>
          <a:ln w="10160">
            <a:solidFill>
              <a:srgbClr val="00D4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5488" y="379476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D4C2"/>
                </a:solidFill>
                <a:latin typeface="Segoe UI Semibold"/>
              </a:rPr>
              <a:t>OpenSearch Query (simplified)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" y="4041648"/>
            <a:ext cx="110642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4D399"/>
                </a:solidFill>
                <a:latin typeface="Consolas"/>
              </a:rPr>
              <a:t>{
  "query": {
    "bool": {
      "must":   { "knn": { "embedding": { "vector": [...1536 floats...], "k": 24 } } },
      "filter": [ { "terms": { "user_ids": ["100"] } } ]
    }
  }
}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0040" y="5687568"/>
            <a:ext cx="3749039" cy="896112"/>
          </a:xfrm>
          <a:prstGeom prst="roundRect">
            <a:avLst>
              <a:gd name="adj" fmla="val 10000"/>
            </a:avLst>
          </a:prstGeom>
          <a:solidFill>
            <a:srgbClr val="16233E"/>
          </a:solidFill>
          <a:ln w="9525">
            <a:solidFill>
              <a:srgbClr val="FFB8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5733288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B82C"/>
                </a:solidFill>
                <a:latin typeface="Segoe UI Semibold"/>
              </a:rPr>
              <a:t>Threads API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998464"/>
            <a:ext cx="34747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BC4D5"/>
                </a:solidFill>
                <a:latin typeface="Segoe UI"/>
              </a:rPr>
              <a:t>GET /api/threads?user_id=100 returns only threads owned by user 100.
No cross-user thread leakage possible.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70248" y="5687568"/>
            <a:ext cx="3749039" cy="896112"/>
          </a:xfrm>
          <a:prstGeom prst="roundRect">
            <a:avLst>
              <a:gd name="adj" fmla="val 10000"/>
            </a:avLst>
          </a:prstGeom>
          <a:solidFill>
            <a:srgbClr val="16233E"/>
          </a:solidFill>
          <a:ln w="9525">
            <a:solidFill>
              <a:srgbClr val="388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07408" y="5733288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88BFF"/>
                </a:solidFill>
                <a:latin typeface="Segoe UI Semibold"/>
              </a:rPr>
              <a:t>Search UI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07408" y="5998464"/>
            <a:ext cx="34747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BC4D5"/>
                </a:solidFill>
                <a:latin typeface="Segoe UI"/>
              </a:rPr>
              <a:t>POST /api/search enforces same user_id filter.
BM25 multi_match also wrapped in bool/filter before scoring.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20456" y="5687568"/>
            <a:ext cx="3749039" cy="896112"/>
          </a:xfrm>
          <a:prstGeom prst="roundRect">
            <a:avLst>
              <a:gd name="adj" fmla="val 10000"/>
            </a:avLst>
          </a:prstGeom>
          <a:solidFill>
            <a:srgbClr val="16233E"/>
          </a:solidFill>
          <a:ln w="9525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57616" y="5733288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A78BFA"/>
                </a:solidFill>
                <a:latin typeface="Segoe UI Semibold"/>
              </a:rPr>
              <a:t>FAQ fast-path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57616" y="5998464"/>
            <a:ext cx="34747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BC4D5"/>
                </a:solidFill>
                <a:latin typeface="Segoe UI"/>
              </a:rPr>
              <a:t>kNN on _faqs index also uses terms filter on user_ids.
Even cache hits are permission-scoped.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0A1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0040" y="6638544"/>
            <a:ext cx="9144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6580"/>
                </a:solidFill>
                <a:latin typeface="Segoe UI"/>
              </a:rPr>
              <a:t>PolicyGPT – Hybrid Search Architecture  |  Engineering Review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D4C2"/>
                </a:solidFill>
                <a:latin typeface="Segoe UI Semibold"/>
              </a:rPr>
              <a:t>08  DOMAIN OPTIMISATION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41148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Segoe UI Semibold"/>
              </a:rPr>
              <a:t>Domain Optimisation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97840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BC4D5"/>
                </a:solidFill>
                <a:latin typeface="Segoe UI"/>
              </a:rPr>
              <a:t>Single config switch adapts the entire stack — weights, prompts, token budgets, OCR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143000"/>
            <a:ext cx="11521440" cy="16459"/>
          </a:xfrm>
          <a:prstGeom prst="rect">
            <a:avLst/>
          </a:prstGeom>
          <a:solidFill>
            <a:srgbClr val="1E3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20040" y="1234440"/>
            <a:ext cx="11548872" cy="3017520"/>
          </a:xfrm>
          <a:prstGeom prst="roundRect">
            <a:avLst>
              <a:gd name="adj" fmla="val 10000"/>
            </a:avLst>
          </a:prstGeom>
          <a:solidFill>
            <a:srgbClr val="16233E"/>
          </a:solidFill>
          <a:ln w="6350">
            <a:solidFill>
              <a:srgbClr val="1E3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298448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D4C2"/>
                </a:solidFill>
                <a:latin typeface="Segoe UI Semibold"/>
              </a:rPr>
              <a:t>Parameter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31720" y="1298448"/>
            <a:ext cx="1691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D4C2"/>
                </a:solidFill>
                <a:latin typeface="Segoe UI Semibold"/>
              </a:rPr>
              <a:t>Default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69080" y="1298448"/>
            <a:ext cx="187451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D4C2"/>
                </a:solidFill>
                <a:latin typeface="Segoe UI Semibold"/>
              </a:rPr>
              <a:t>policy  domain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89320" y="1298448"/>
            <a:ext cx="187451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D4C2"/>
                </a:solidFill>
                <a:latin typeface="Segoe UI Semibold"/>
              </a:rPr>
              <a:t>contest  domain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09560" y="1298448"/>
            <a:ext cx="4069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D4C2"/>
                </a:solidFill>
                <a:latin typeface="Segoe UI Semibold"/>
              </a:rPr>
              <a:t>Why it differs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7472" y="1627632"/>
            <a:ext cx="11475720" cy="32918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1645920"/>
            <a:ext cx="1920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BC4D5"/>
                </a:solidFill>
                <a:latin typeface="Segoe UI"/>
              </a:rPr>
              <a:t>keyword_weight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31720" y="1645920"/>
            <a:ext cx="16916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BC4D5"/>
                </a:solidFill>
                <a:latin typeface="Segoe UI"/>
              </a:rPr>
              <a:t>0.30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69080" y="1645920"/>
            <a:ext cx="187451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0D4C2"/>
                </a:solidFill>
                <a:latin typeface="Segoe UI"/>
              </a:rPr>
              <a:t>0.35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89320" y="1645920"/>
            <a:ext cx="187451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B82C"/>
                </a:solidFill>
                <a:latin typeface="Segoe UI"/>
              </a:rPr>
              <a:t>0.20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09560" y="1645920"/>
            <a:ext cx="4069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BC4D5"/>
                </a:solidFill>
                <a:latin typeface="Segoe UI"/>
              </a:rPr>
              <a:t>Policy: clause numbers &amp; defined terms need exact match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1993392"/>
            <a:ext cx="1920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BC4D5"/>
                </a:solidFill>
                <a:latin typeface="Segoe UI"/>
              </a:rPr>
              <a:t>similarity_weight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31720" y="1993392"/>
            <a:ext cx="16916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BC4D5"/>
                </a:solidFill>
                <a:latin typeface="Segoe UI"/>
              </a:rPr>
              <a:t>0.20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69080" y="1993392"/>
            <a:ext cx="187451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0D4C2"/>
                </a:solidFill>
                <a:latin typeface="Segoe UI"/>
              </a:rPr>
              <a:t>0.15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89320" y="1993392"/>
            <a:ext cx="187451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B82C"/>
                </a:solidFill>
                <a:latin typeface="Segoe UI"/>
              </a:rPr>
              <a:t>0.15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09560" y="1993392"/>
            <a:ext cx="4069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BC4D5"/>
                </a:solidFill>
                <a:latin typeface="Segoe UI"/>
              </a:rPr>
              <a:t>Both domains: MLT adds marginal value over vector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47472" y="2322576"/>
            <a:ext cx="11475720" cy="32918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" y="2340864"/>
            <a:ext cx="1920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78BFA"/>
                </a:solidFill>
                <a:latin typeface="Segoe UI"/>
              </a:rPr>
              <a:t>vector_weight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331720" y="2340864"/>
            <a:ext cx="16916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BC4D5"/>
                </a:solidFill>
                <a:latin typeface="Segoe UI"/>
              </a:rPr>
              <a:t>0.50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069080" y="2340864"/>
            <a:ext cx="187451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0D4C2"/>
                </a:solidFill>
                <a:latin typeface="Segoe UI"/>
              </a:rPr>
              <a:t>0.50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89320" y="2340864"/>
            <a:ext cx="187451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B82C"/>
                </a:solidFill>
                <a:latin typeface="Segoe UI"/>
              </a:rPr>
              <a:t>0.65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09560" y="2340864"/>
            <a:ext cx="4069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BC4D5"/>
                </a:solidFill>
                <a:latin typeface="Segoe UI"/>
              </a:rPr>
              <a:t>Contest: vague user intent → semantic search dominates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" y="2688336"/>
            <a:ext cx="1920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B82C"/>
                </a:solidFill>
                <a:latin typeface="Segoe UI"/>
              </a:rPr>
              <a:t>chat_max_tokens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331720" y="2688336"/>
            <a:ext cx="16916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BC4D5"/>
                </a:solidFill>
                <a:latin typeface="Segoe UI"/>
              </a:rPr>
              <a:t>2700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069080" y="2688336"/>
            <a:ext cx="187451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0D4C2"/>
                </a:solidFill>
                <a:latin typeface="Segoe UI"/>
              </a:rPr>
              <a:t>5400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89320" y="2688336"/>
            <a:ext cx="187451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B82C"/>
                </a:solidFill>
                <a:latin typeface="Segoe UI"/>
              </a:rPr>
              <a:t>2700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09560" y="2688336"/>
            <a:ext cx="4069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BC4D5"/>
                </a:solidFill>
                <a:latin typeface="Segoe UI"/>
              </a:rPr>
              <a:t>Policy answers: multi-step procedures need room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47472" y="3017520"/>
            <a:ext cx="11475720" cy="32918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65760" y="3035808"/>
            <a:ext cx="1920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4D399"/>
                </a:solidFill>
                <a:latin typeface="Segoe UI"/>
              </a:rPr>
              <a:t>ocr_enabled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331720" y="3035808"/>
            <a:ext cx="16916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BC4D5"/>
                </a:solidFill>
                <a:latin typeface="Segoe UI"/>
              </a:rPr>
              <a:t>False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069080" y="3035808"/>
            <a:ext cx="187451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0D4C2"/>
                </a:solidFill>
                <a:latin typeface="Segoe UI"/>
              </a:rPr>
              <a:t>True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989320" y="3035808"/>
            <a:ext cx="187451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B82C"/>
                </a:solidFill>
                <a:latin typeface="Segoe UI"/>
              </a:rPr>
              <a:t>True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909560" y="3035808"/>
            <a:ext cx="4069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BC4D5"/>
                </a:solidFill>
                <a:latin typeface="Segoe UI"/>
              </a:rPr>
              <a:t>Both: scanned images, org charts, approval matrices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65760" y="3383280"/>
            <a:ext cx="1920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BC4D5"/>
                </a:solidFill>
                <a:latin typeface="Segoe UI"/>
              </a:rPr>
              <a:t>ocr_min_conf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331720" y="3383280"/>
            <a:ext cx="16916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BC4D5"/>
                </a:solidFill>
                <a:latin typeface="Segoe UI"/>
              </a:rPr>
              <a:t>80%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069080" y="3383280"/>
            <a:ext cx="187451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0D4C2"/>
                </a:solidFill>
                <a:latin typeface="Segoe UI"/>
              </a:rPr>
              <a:t>80%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989320" y="3383280"/>
            <a:ext cx="187451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B82C"/>
                </a:solidFill>
                <a:latin typeface="Segoe UI"/>
              </a:rPr>
              <a:t>80%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909560" y="3383280"/>
            <a:ext cx="4069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BC4D5"/>
                </a:solidFill>
                <a:latin typeface="Segoe UI"/>
              </a:rPr>
              <a:t>AWS Textract LINE block confidence threshold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47472" y="3712464"/>
            <a:ext cx="11475720" cy="32918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65760" y="3730752"/>
            <a:ext cx="1920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0D4C2"/>
                </a:solidFill>
                <a:latin typeface="Segoe UI"/>
              </a:rPr>
              <a:t>accuracy_profile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331720" y="3730752"/>
            <a:ext cx="16916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BC4D5"/>
                </a:solidFill>
                <a:latin typeface="Segoe UI"/>
              </a:rPr>
              <a:t>high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069080" y="3730752"/>
            <a:ext cx="187451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0D4C2"/>
                </a:solidFill>
                <a:latin typeface="Segoe UI"/>
              </a:rPr>
              <a:t>vhigh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989320" y="3730752"/>
            <a:ext cx="187451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B82C"/>
                </a:solidFill>
                <a:latin typeface="Segoe UI"/>
              </a:rPr>
              <a:t>high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909560" y="3730752"/>
            <a:ext cx="4069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BC4D5"/>
                </a:solidFill>
                <a:latin typeface="Segoe UI"/>
              </a:rPr>
              <a:t>Policy needs broader retrieval (vhigh: top 6 docs, 15 sections)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65760" y="4389120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D4C2"/>
                </a:solidFill>
                <a:latin typeface="Segoe UI Semibold"/>
              </a:rPr>
              <a:t>ACCURACY PROFILES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320040" y="4681728"/>
            <a:ext cx="2788920" cy="1920240"/>
          </a:xfrm>
          <a:prstGeom prst="roundRect">
            <a:avLst>
              <a:gd name="adj" fmla="val 10000"/>
            </a:avLst>
          </a:prstGeom>
          <a:solidFill>
            <a:srgbClr val="16233E"/>
          </a:solidFill>
          <a:ln w="12700">
            <a:solidFill>
              <a:srgbClr val="00D4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429768" y="4754880"/>
            <a:ext cx="1005840" cy="256032"/>
          </a:xfrm>
          <a:prstGeom prst="roundRect">
            <a:avLst>
              <a:gd name="adj" fmla="val 25000"/>
            </a:avLst>
          </a:prstGeom>
          <a:solidFill>
            <a:srgbClr val="00D4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29768" y="4773168"/>
            <a:ext cx="1005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F172A"/>
                </a:solidFill>
                <a:latin typeface="Segoe UI Semibold"/>
              </a:rPr>
              <a:t>vhigh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48056" y="5093208"/>
            <a:ext cx="256032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BC4D5"/>
                </a:solidFill>
                <a:latin typeface="Segoe UI"/>
              </a:rPr>
              <a:t>top_docs=3  sections/doc=5  max_to_llm=15
rerank_candidates=15  evidence_neighbors=5
doc_summary_budget=8000 tokens
→ Best quality, highest cost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3246120" y="4681728"/>
            <a:ext cx="2788920" cy="1920240"/>
          </a:xfrm>
          <a:prstGeom prst="roundRect">
            <a:avLst>
              <a:gd name="adj" fmla="val 10000"/>
            </a:avLst>
          </a:prstGeom>
          <a:solidFill>
            <a:srgbClr val="16233E"/>
          </a:solidFill>
          <a:ln w="12700">
            <a:solidFill>
              <a:srgbClr val="388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3355848" y="4754880"/>
            <a:ext cx="1005840" cy="256032"/>
          </a:xfrm>
          <a:prstGeom prst="roundRect">
            <a:avLst>
              <a:gd name="adj" fmla="val 25000"/>
            </a:avLst>
          </a:prstGeom>
          <a:solidFill>
            <a:srgbClr val="38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355848" y="4773168"/>
            <a:ext cx="1005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F172A"/>
                </a:solidFill>
                <a:latin typeface="Segoe UI Semibold"/>
              </a:rPr>
              <a:t>high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374136" y="5093208"/>
            <a:ext cx="256032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BC4D5"/>
                </a:solidFill>
                <a:latin typeface="Segoe UI"/>
              </a:rPr>
              <a:t>top_docs=3  sections/doc=3  max_to_llm=4
rerank_candidates=12  evidence_neighbors=1
doc_summary_budget=6000 tokens
→ Balanced quality/cost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6172200" y="4681728"/>
            <a:ext cx="2788920" cy="1920240"/>
          </a:xfrm>
          <a:prstGeom prst="roundRect">
            <a:avLst>
              <a:gd name="adj" fmla="val 10000"/>
            </a:avLst>
          </a:prstGeom>
          <a:solidFill>
            <a:srgbClr val="16233E"/>
          </a:solidFill>
          <a:ln w="12700">
            <a:solidFill>
              <a:srgbClr val="FFB8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ounded Rectangle 61"/>
          <p:cNvSpPr/>
          <p:nvPr/>
        </p:nvSpPr>
        <p:spPr>
          <a:xfrm>
            <a:off x="6281928" y="4754880"/>
            <a:ext cx="1005840" cy="256032"/>
          </a:xfrm>
          <a:prstGeom prst="roundRect">
            <a:avLst>
              <a:gd name="adj" fmla="val 25000"/>
            </a:avLst>
          </a:prstGeom>
          <a:solidFill>
            <a:srgbClr val="FFB8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281928" y="4773168"/>
            <a:ext cx="1005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F172A"/>
                </a:solidFill>
                <a:latin typeface="Segoe UI Semibold"/>
              </a:rPr>
              <a:t>medium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300216" y="5093208"/>
            <a:ext cx="256032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BC4D5"/>
                </a:solidFill>
                <a:latin typeface="Segoe UI"/>
              </a:rPr>
              <a:t>top_docs=2  sections/doc=2  max_to_llm=3
rerank_candidates=8  evidence_neighbors=1
→ Cost-optimised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9098280" y="4681728"/>
            <a:ext cx="2788920" cy="1920240"/>
          </a:xfrm>
          <a:prstGeom prst="roundRect">
            <a:avLst>
              <a:gd name="adj" fmla="val 10000"/>
            </a:avLst>
          </a:prstGeom>
          <a:solidFill>
            <a:srgbClr val="16233E"/>
          </a:solidFill>
          <a:ln w="127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ounded Rectangle 65"/>
          <p:cNvSpPr/>
          <p:nvPr/>
        </p:nvSpPr>
        <p:spPr>
          <a:xfrm>
            <a:off x="9208008" y="4754880"/>
            <a:ext cx="1005840" cy="256032"/>
          </a:xfrm>
          <a:prstGeom prst="roundRect">
            <a:avLst>
              <a:gd name="adj" fmla="val 25000"/>
            </a:avLst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208008" y="4773168"/>
            <a:ext cx="1005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F172A"/>
                </a:solidFill>
                <a:latin typeface="Segoe UI Semibold"/>
              </a:rPr>
              <a:t>low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226296" y="5093208"/>
            <a:ext cx="256032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BC4D5"/>
                </a:solidFill>
                <a:latin typeface="Segoe UI"/>
              </a:rPr>
              <a:t>top_docs=1  sections/doc=2  max_to_llm=2
rerank_candidates=6
→ Minimum viable retrieval</a:t>
            </a:r>
          </a:p>
        </p:txBody>
      </p:sp>
      <p:sp>
        <p:nvSpPr>
          <p:cNvPr id="69" name="Rectangle 68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0A1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320040" y="6638544"/>
            <a:ext cx="9144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6580"/>
                </a:solidFill>
                <a:latin typeface="Segoe UI"/>
              </a:rPr>
              <a:t>PolicyGPT – Hybrid Search Architecture  |  Engineering Review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D4C2"/>
                </a:solidFill>
                <a:latin typeface="Segoe UI Semibold"/>
              </a:rPr>
              <a:t>09  CONVERSATION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41148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Segoe UI Semibold"/>
              </a:rPr>
              <a:t>Conversation State &amp; Thread Persistence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97840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BC4D5"/>
                </a:solidFill>
                <a:latin typeface="Segoe UI"/>
              </a:rPr>
              <a:t>Two message stores per thread — lean in-memory LLM context + full OS-persisted display history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143000"/>
            <a:ext cx="11521440" cy="16459"/>
          </a:xfrm>
          <a:prstGeom prst="rect">
            <a:avLst/>
          </a:prstGeom>
          <a:solidFill>
            <a:srgbClr val="1E3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20040" y="1261872"/>
            <a:ext cx="5394960" cy="3657600"/>
          </a:xfrm>
          <a:prstGeom prst="roundRect">
            <a:avLst>
              <a:gd name="adj" fmla="val 10000"/>
            </a:avLst>
          </a:prstGeom>
          <a:solidFill>
            <a:srgbClr val="16233E"/>
          </a:solidFill>
          <a:ln w="15240">
            <a:solidFill>
              <a:srgbClr val="00D4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1316736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D4C2"/>
                </a:solidFill>
                <a:latin typeface="Segoe UI Semibold"/>
              </a:rPr>
              <a:t>Two Message Stores per Thread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1691640"/>
            <a:ext cx="5074920" cy="1371600"/>
          </a:xfrm>
          <a:prstGeom prst="roundRect">
            <a:avLst>
              <a:gd name="adj" fmla="val 10000"/>
            </a:avLst>
          </a:prstGeom>
          <a:solidFill>
            <a:srgbClr val="0F172A"/>
          </a:solidFill>
          <a:ln w="10160">
            <a:solidFill>
              <a:srgbClr val="388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737360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88BFF"/>
                </a:solidFill>
                <a:latin typeface="Segoe UI Semibold"/>
              </a:rPr>
              <a:t>recent_messages  (LLM context window)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1993392"/>
            <a:ext cx="4846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BC4D5"/>
                </a:solidFill>
                <a:latin typeface="Segoe UI"/>
              </a:rPr>
              <a:t>• Kept in memory at all times — never cleared
• Trimmed to last max_recent_messages=6 turns
• Injected into every LLM answer prompt as 'Recent:'
• Serialised to OS so survives server restart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75488" y="3172968"/>
            <a:ext cx="5074920" cy="1371600"/>
          </a:xfrm>
          <a:prstGeom prst="roundRect">
            <a:avLst>
              <a:gd name="adj" fmla="val 10000"/>
            </a:avLst>
          </a:prstGeom>
          <a:solidFill>
            <a:srgbClr val="0F172A"/>
          </a:solidFill>
          <a:ln w="1016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3218688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A78BFA"/>
                </a:solidFill>
                <a:latin typeface="Segoe UI Semibold"/>
              </a:rPr>
              <a:t>display_messages  (UI history)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3474720"/>
            <a:ext cx="4846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BC4D5"/>
                </a:solidFill>
                <a:latin typeface="Segoe UI"/>
              </a:rPr>
              <a:t>• Accumulated in OS across all turns (not overwritten)
• Cleared from memory after each OS save (lean)
• Loaded fresh from OS on each API response
• Full message history visible to user on page refresh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897880" y="1261872"/>
            <a:ext cx="5971032" cy="3657600"/>
          </a:xfrm>
          <a:prstGeom prst="roundRect">
            <a:avLst>
              <a:gd name="adj" fmla="val 10000"/>
            </a:avLst>
          </a:prstGeom>
          <a:solidFill>
            <a:srgbClr val="16233E"/>
          </a:solidFill>
          <a:ln w="15240">
            <a:solidFill>
              <a:srgbClr val="FFB8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53328" y="1316736"/>
            <a:ext cx="5669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B82C"/>
                </a:solidFill>
                <a:latin typeface="Segoe UI Semibold"/>
              </a:rPr>
              <a:t>Turn-by-Turn State Machine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53328" y="1691640"/>
            <a:ext cx="5650992" cy="896112"/>
          </a:xfrm>
          <a:prstGeom prst="roundRect">
            <a:avLst>
              <a:gd name="adj" fmla="val 10000"/>
            </a:avLst>
          </a:prstGeom>
          <a:solidFill>
            <a:srgbClr val="0F172A"/>
          </a:solidFill>
          <a:ln w="9525">
            <a:solidFill>
              <a:srgbClr val="FFB8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99632" y="1746504"/>
            <a:ext cx="537667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B82C"/>
                </a:solidFill>
                <a:latin typeface="Segoe UI Semibold"/>
              </a:rPr>
              <a:t>1. Turn N — chat()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99632" y="2002536"/>
            <a:ext cx="537667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BC4D5"/>
                </a:solidFill>
                <a:latin typeface="Segoe UI"/>
              </a:rPr>
              <a:t>get_thread() → in-memory (recent_msgs intact)
Build prompt with recent_chat history
Append [user: Q, asst: A] to both msg stores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8878824" y="2587752"/>
            <a:ext cx="0" cy="128016"/>
          </a:xfrm>
          <a:prstGeom prst="line">
            <a:avLst/>
          </a:prstGeom>
          <a:ln w="25400">
            <a:solidFill>
              <a:srgbClr val="FFB8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6053328" y="2715768"/>
            <a:ext cx="5650992" cy="896112"/>
          </a:xfrm>
          <a:prstGeom prst="roundRect">
            <a:avLst>
              <a:gd name="adj" fmla="val 10000"/>
            </a:avLst>
          </a:prstGeom>
          <a:solidFill>
            <a:srgbClr val="0F172A"/>
          </a:solidFill>
          <a:ln w="9525">
            <a:solidFill>
              <a:srgbClr val="00D4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99632" y="2770632"/>
            <a:ext cx="537667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D4C2"/>
                </a:solidFill>
                <a:latin typeface="Segoe UI Semibold"/>
              </a:rPr>
              <a:t>2. save_thread()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99632" y="3026664"/>
            <a:ext cx="537667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BC4D5"/>
                </a:solidFill>
                <a:latin typeface="Segoe UI"/>
              </a:rPr>
              <a:t>Load existing OS display_messages
Prepend to new messages → accumulate
Save full state to OS
Clear display_messages from memory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878824" y="3611880"/>
            <a:ext cx="0" cy="128016"/>
          </a:xfrm>
          <a:prstGeom prst="line">
            <a:avLst/>
          </a:prstGeom>
          <a:ln w="25400">
            <a:solidFill>
              <a:srgbClr val="00D4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6053328" y="3739896"/>
            <a:ext cx="5650992" cy="896112"/>
          </a:xfrm>
          <a:prstGeom prst="roundRect">
            <a:avLst>
              <a:gd name="adj" fmla="val 10000"/>
            </a:avLst>
          </a:prstGeom>
          <a:solidFill>
            <a:srgbClr val="0F172A"/>
          </a:solidFill>
          <a:ln w="9525">
            <a:solidFill>
              <a:srgbClr val="388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99632" y="3794759"/>
            <a:ext cx="537667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88BFF"/>
                </a:solidFill>
                <a:latin typeface="Segoe UI Semibold"/>
              </a:rPr>
              <a:t>3. get_thread_for_display()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99632" y="4050791"/>
            <a:ext cx="537667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BC4D5"/>
                </a:solidFill>
                <a:latin typeface="Segoe UI"/>
              </a:rPr>
              <a:t>Load from OS → full display_messages
Return to API → serialise to frontend
User sees complete conversation history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20040" y="5029200"/>
            <a:ext cx="11548872" cy="1188720"/>
          </a:xfrm>
          <a:prstGeom prst="roundRect">
            <a:avLst>
              <a:gd name="adj" fmla="val 10000"/>
            </a:avLst>
          </a:prstGeom>
          <a:solidFill>
            <a:srgbClr val="16233E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75488" y="5084064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34D399"/>
                </a:solidFill>
                <a:latin typeface="Segoe UI Semibold"/>
              </a:rPr>
              <a:t>Auto Conversation Summarisation  (after summarize_after_turns=8 messages)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5488" y="5349240"/>
            <a:ext cx="1097280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BC4D5"/>
                </a:solidFill>
                <a:latin typeface="Segoe UI"/>
              </a:rPr>
              <a:t>When len(recent_messages) ≥ 8  →  LLM generates a compact conversation_summary.
The summary is injected into the answer prompt as 'Summary:' (before 'Recent:') — enabling coherent long conversations that would otherwise overflow the context window.
recent_messages is NOT cleared after summarisation — the two stores evolve independently.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0A1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20040" y="6638544"/>
            <a:ext cx="9144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6580"/>
                </a:solidFill>
                <a:latin typeface="Segoe UI"/>
              </a:rPr>
              <a:t>PolicyGPT – Hybrid Search Architecture  |  Engineering Review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D4C2"/>
                </a:solidFill>
                <a:latin typeface="Segoe UI Semibold"/>
              </a:rPr>
              <a:t>10  FAQ FAST-PATH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41148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Segoe UI Semibold"/>
              </a:rPr>
              <a:t>FAQ Fast-Path — Zero-Cost Answer Cache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97840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BC4D5"/>
                </a:solidFill>
                <a:latin typeface="Segoe UI"/>
              </a:rPr>
              <a:t>Pre-generated Q/A pairs bypass the full RAG pipeline when the query is a near-exact match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143000"/>
            <a:ext cx="11521440" cy="16459"/>
          </a:xfrm>
          <a:prstGeom prst="rect">
            <a:avLst/>
          </a:prstGeom>
          <a:solidFill>
            <a:srgbClr val="1E3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20040" y="1280160"/>
            <a:ext cx="3474720" cy="3017520"/>
          </a:xfrm>
          <a:prstGeom prst="roundRect">
            <a:avLst>
              <a:gd name="adj" fmla="val 10000"/>
            </a:avLst>
          </a:prstGeom>
          <a:solidFill>
            <a:srgbClr val="16233E"/>
          </a:solidFill>
          <a:ln w="15240">
            <a:solidFill>
              <a:srgbClr val="FFB8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1335024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B82C"/>
                </a:solidFill>
                <a:latin typeface="Segoe UI Semibold"/>
              </a:rPr>
              <a:t>Ingestion — FAQ Generation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1645920"/>
            <a:ext cx="32918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BC4D5"/>
                </a:solidFill>
                <a:latin typeface="Segoe UI"/>
              </a:rPr>
              <a:t>1.  LLM generates up to 30 Q/A pairs
    per document during ingestion.
2.  Each question is embedded
    (Titan embed-text-v2, 1536-dim).
3.  Stored in policygpt_faqs index:
    question_embedding (knn_vector)
    question + answer text
    user_ids + domain filter
4.  Represents the 'canonical' Q/A
    knowledge base for the corpus.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794760" y="2816352"/>
            <a:ext cx="393192" cy="0"/>
          </a:xfrm>
          <a:prstGeom prst="line">
            <a:avLst/>
          </a:prstGeom>
          <a:ln w="25400">
            <a:solidFill>
              <a:srgbClr val="FFB8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4297680" y="1280160"/>
            <a:ext cx="3840480" cy="3017520"/>
          </a:xfrm>
          <a:prstGeom prst="roundRect">
            <a:avLst>
              <a:gd name="adj" fmla="val 10000"/>
            </a:avLst>
          </a:prstGeom>
          <a:solidFill>
            <a:srgbClr val="16233E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53128" y="1335024"/>
            <a:ext cx="3611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34D399"/>
                </a:solidFill>
                <a:latin typeface="Segoe UI Semibold"/>
              </a:rPr>
              <a:t>⚡  Fast-Path Lookup at Query Time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53128" y="1645920"/>
            <a:ext cx="36118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BC4D5"/>
                </a:solidFill>
                <a:latin typeface="Segoe UI"/>
              </a:rPr>
              <a:t>1.  Embed the raw user question.
2.  kNN search on question_embedding
    with user_id filter (k=1).
3.  If top score ≥ 0.92:
    ✓  Return stored FAQ answer
    ✓  Skip retrieval, reranker, LLM
    ✓  Fastest possible response
4.  If score &lt; 0.92:
    →  Fall through to full RAG pipeline.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138160" y="2816352"/>
            <a:ext cx="393192" cy="0"/>
          </a:xfrm>
          <a:prstGeom prst="line">
            <a:avLst/>
          </a:prstGeom>
          <a:ln w="25400">
            <a:solidFill>
              <a:srgbClr val="34D3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8641080" y="1280160"/>
            <a:ext cx="3227832" cy="3017520"/>
          </a:xfrm>
          <a:prstGeom prst="roundRect">
            <a:avLst>
              <a:gd name="adj" fmla="val 10000"/>
            </a:avLst>
          </a:prstGeom>
          <a:solidFill>
            <a:srgbClr val="16233E"/>
          </a:solidFill>
          <a:ln w="1524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796528" y="1335024"/>
            <a:ext cx="29992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A78BFA"/>
                </a:solidFill>
                <a:latin typeface="Segoe UI Semibold"/>
              </a:rPr>
              <a:t>Aggregate Query Evidence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96528" y="1645920"/>
            <a:ext cx="2999232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BC4D5"/>
                </a:solidFill>
                <a:latin typeface="Segoe UI"/>
              </a:rPr>
              <a:t>For aggregate intents
(e.g. 'list all schemes'):
• Top-30 FAQ hits searched
  across ALL documents
• Grouped by document title
  for clean prompt layout
• Replaces section evidence
  for listing questions
• Gives corpus-wide coverage
  beyond doc-level retrieval.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0040" y="4434840"/>
            <a:ext cx="11548872" cy="1188720"/>
          </a:xfrm>
          <a:prstGeom prst="roundRect">
            <a:avLst>
              <a:gd name="adj" fmla="val 10000"/>
            </a:avLst>
          </a:prstGeom>
          <a:solidFill>
            <a:srgbClr val="16233E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5488" y="448056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34D399"/>
                </a:solidFill>
                <a:latin typeface="Segoe UI Semibold"/>
              </a:rPr>
              <a:t>Cost &amp; Latency Impact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5488" y="4754880"/>
            <a:ext cx="1097280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BC4D5"/>
                </a:solidFill>
                <a:latin typeface="Segoe UI"/>
              </a:rPr>
              <a:t>A FAQ fast-path hit eliminates:  (1) retrieval query + embedding call  (2) HybridSearcher + 3 OS queries  (3) Reranker computation  (4) LLM chat call (largest cost).
For high-frequency, repetitive enterprise queries (eligibility, deadlines, limits) the fast-path hit rate can exceed 40%, delivering substantial inference cost savings.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0040" y="5742432"/>
            <a:ext cx="11548872" cy="658368"/>
          </a:xfrm>
          <a:prstGeom prst="roundRect">
            <a:avLst>
              <a:gd name="adj" fmla="val 10000"/>
            </a:avLst>
          </a:prstGeom>
          <a:solidFill>
            <a:srgbClr val="0F172A"/>
          </a:solidFill>
          <a:ln w="6350">
            <a:solidFill>
              <a:srgbClr val="FFB8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5488" y="5779008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BC4D5"/>
                </a:solidFill>
                <a:latin typeface="Segoe UI"/>
              </a:rPr>
              <a:t>Threshold  faq_fastpath_min_score=0.92  is tunable in config. Lowering to 0.88 increases hit-rate but risks returning slightly mismatched answers. Raising to 0.95 makes fast-path very conservative — only near-verbatim matches qualify.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0A1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0040" y="6638544"/>
            <a:ext cx="9144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6580"/>
                </a:solidFill>
                <a:latin typeface="Segoe UI"/>
              </a:rPr>
              <a:t>PolicyGPT – Hybrid Search Architecture  |  Engineering Review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D4C2"/>
                </a:solidFill>
                <a:latin typeface="Segoe UI Semibold"/>
              </a:rPr>
              <a:t>11  LLM PROMPT CONSTRUCTION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41148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Segoe UI Semibold"/>
              </a:rPr>
              <a:t>LLM Answer Prompt — Structure &amp; Context Injection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97840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BC4D5"/>
                </a:solidFill>
                <a:latin typeface="Segoe UI"/>
              </a:rPr>
              <a:t>Evidence-first architecture: every claim the LLM makes must be grounded in retrieved text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143000"/>
            <a:ext cx="11521440" cy="16459"/>
          </a:xfrm>
          <a:prstGeom prst="rect">
            <a:avLst/>
          </a:prstGeom>
          <a:solidFill>
            <a:srgbClr val="1E3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20040" y="1261872"/>
            <a:ext cx="3291840" cy="566928"/>
          </a:xfrm>
          <a:prstGeom prst="roundRect">
            <a:avLst>
              <a:gd name="adj" fmla="val 10000"/>
            </a:avLst>
          </a:prstGeom>
          <a:solidFill>
            <a:srgbClr val="16233E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261872"/>
            <a:ext cx="54864" cy="566928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9768" y="1289304"/>
            <a:ext cx="10058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4D399"/>
                </a:solidFill>
                <a:latin typeface="Segoe UI Semibold"/>
              </a:rPr>
              <a:t>Summary: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1289304"/>
            <a:ext cx="210312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BC4D5"/>
                </a:solidFill>
                <a:latin typeface="Segoe UI"/>
              </a:rPr>
              <a:t>conversation_summary (if exists)
Compact rolling summary after 8 turns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0040" y="1892807"/>
            <a:ext cx="3291840" cy="713232"/>
          </a:xfrm>
          <a:prstGeom prst="roundRect">
            <a:avLst>
              <a:gd name="adj" fmla="val 10000"/>
            </a:avLst>
          </a:prstGeom>
          <a:solidFill>
            <a:srgbClr val="16233E"/>
          </a:solidFill>
          <a:ln w="12700">
            <a:solidFill>
              <a:srgbClr val="00D4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0040" y="1892807"/>
            <a:ext cx="54864" cy="713232"/>
          </a:xfrm>
          <a:prstGeom prst="rect">
            <a:avLst/>
          </a:prstGeom>
          <a:solidFill>
            <a:srgbClr val="00D4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9768" y="1920239"/>
            <a:ext cx="10058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D4C2"/>
                </a:solidFill>
                <a:latin typeface="Segoe UI Semibold"/>
              </a:rPr>
              <a:t>Recent: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1920239"/>
            <a:ext cx="21031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BC4D5"/>
                </a:solidFill>
                <a:latin typeface="Segoe UI"/>
              </a:rPr>
              <a:t>Last 6 turns of recent_messages
USER: ... / ASSISTANT: ...
Provides turn-by-turn context continuity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20040" y="2670048"/>
            <a:ext cx="3291840" cy="475488"/>
          </a:xfrm>
          <a:prstGeom prst="roundRect">
            <a:avLst>
              <a:gd name="adj" fmla="val 10000"/>
            </a:avLst>
          </a:prstGeom>
          <a:solidFill>
            <a:srgbClr val="16233E"/>
          </a:solidFill>
          <a:ln w="12700">
            <a:solidFill>
              <a:srgbClr val="388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20040" y="2670048"/>
            <a:ext cx="54864" cy="475488"/>
          </a:xfrm>
          <a:prstGeom prst="rect">
            <a:avLst/>
          </a:prstGeom>
          <a:solidFill>
            <a:srgbClr val="38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9768" y="2697479"/>
            <a:ext cx="10058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88BFF"/>
                </a:solidFill>
                <a:latin typeface="Segoe UI Semibold"/>
              </a:rPr>
              <a:t>Question: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0" y="2697479"/>
            <a:ext cx="21031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BC4D5"/>
                </a:solidFill>
                <a:latin typeface="Segoe UI"/>
              </a:rPr>
              <a:t>canonical_question from QueryAnalyser
+ expanded_terms + topic_hints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20040" y="3209544"/>
            <a:ext cx="3291840" cy="475488"/>
          </a:xfrm>
          <a:prstGeom prst="roundRect">
            <a:avLst>
              <a:gd name="adj" fmla="val 10000"/>
            </a:avLst>
          </a:prstGeom>
          <a:solidFill>
            <a:srgbClr val="16233E"/>
          </a:solidFill>
          <a:ln w="12700">
            <a:solidFill>
              <a:srgbClr val="FFB8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20040" y="3209544"/>
            <a:ext cx="54864" cy="475488"/>
          </a:xfrm>
          <a:prstGeom prst="rect">
            <a:avLst/>
          </a:prstGeom>
          <a:solidFill>
            <a:srgbClr val="FFB8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29768" y="3236975"/>
            <a:ext cx="10058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B82C"/>
                </a:solidFill>
                <a:latin typeface="Segoe UI Semibold"/>
              </a:rPr>
              <a:t>Style: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63040" y="3236975"/>
            <a:ext cx="21031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BC4D5"/>
                </a:solidFill>
                <a:latin typeface="Segoe UI"/>
              </a:rPr>
              <a:t>Answer format guidance per intent
(exact / broad / aggregate / list)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20040" y="3749039"/>
            <a:ext cx="3291840" cy="475488"/>
          </a:xfrm>
          <a:prstGeom prst="roundRect">
            <a:avLst>
              <a:gd name="adj" fmla="val 10000"/>
            </a:avLst>
          </a:prstGeom>
          <a:solidFill>
            <a:srgbClr val="16233E"/>
          </a:solidFill>
          <a:ln w="127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20040" y="3749039"/>
            <a:ext cx="54864" cy="475488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29768" y="3776472"/>
            <a:ext cx="10058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A78BFA"/>
                </a:solidFill>
                <a:latin typeface="Segoe UI Semibold"/>
              </a:rPr>
              <a:t>Docs: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63040" y="3776472"/>
            <a:ext cx="21031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BC4D5"/>
                </a:solidFill>
                <a:latin typeface="Segoe UI"/>
              </a:rPr>
              <a:t>Aliases D1=, D2= → document titles
Metadata: type, tags, audience, version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20040" y="4288536"/>
            <a:ext cx="3291840" cy="713232"/>
          </a:xfrm>
          <a:prstGeom prst="roundRect">
            <a:avLst>
              <a:gd name="adj" fmla="val 10000"/>
            </a:avLst>
          </a:prstGeom>
          <a:solidFill>
            <a:srgbClr val="16233E"/>
          </a:solidFill>
          <a:ln w="12700">
            <a:solidFill>
              <a:srgbClr val="00D4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20040" y="4288536"/>
            <a:ext cx="54864" cy="713232"/>
          </a:xfrm>
          <a:prstGeom prst="rect">
            <a:avLst/>
          </a:prstGeom>
          <a:solidFill>
            <a:srgbClr val="00D4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29768" y="4315968"/>
            <a:ext cx="10058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D4C2"/>
                </a:solidFill>
                <a:latin typeface="Segoe UI Semibold"/>
              </a:rPr>
              <a:t>Evidence: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63040" y="4315968"/>
            <a:ext cx="21031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BC4D5"/>
                </a:solidFill>
                <a:latin typeface="Segoe UI"/>
              </a:rPr>
              <a:t>Top sections: raw_text snippets
+ section summary + section_type
Neighboring units included (evidence_neighbors=5)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20040" y="5065775"/>
            <a:ext cx="3291840" cy="594360"/>
          </a:xfrm>
          <a:prstGeom prst="roundRect">
            <a:avLst>
              <a:gd name="adj" fmla="val 10000"/>
            </a:avLst>
          </a:prstGeom>
          <a:solidFill>
            <a:srgbClr val="16233E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20040" y="5065775"/>
            <a:ext cx="54864" cy="5943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29768" y="5093207"/>
            <a:ext cx="1005840" cy="539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4D399"/>
                </a:solidFill>
                <a:latin typeface="Segoe UI Semibold"/>
              </a:rPr>
              <a:t>Answer instruction: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463040" y="5093207"/>
            <a:ext cx="2103120" cy="539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BC4D5"/>
                </a:solidFill>
                <a:latin typeface="Segoe UI"/>
              </a:rPr>
              <a:t>"Answer only from the evidence. Include exclusions/exceptions.
Never mention internal IDs. Prefer raw evidence over summaries."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794760" y="1261872"/>
            <a:ext cx="8074152" cy="5166360"/>
          </a:xfrm>
          <a:prstGeom prst="roundRect">
            <a:avLst>
              <a:gd name="adj" fmla="val 10000"/>
            </a:avLst>
          </a:prstGeom>
          <a:solidFill>
            <a:srgbClr val="16233E"/>
          </a:solidFill>
          <a:ln w="15240">
            <a:solidFill>
              <a:srgbClr val="388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950208" y="1316736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88BFF"/>
                </a:solidFill>
                <a:latin typeface="Segoe UI Semibold"/>
              </a:rPr>
              <a:t>QueryAnalyser — What Drives the Prompt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822191" y="1655064"/>
            <a:ext cx="7982712" cy="47548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950208" y="169164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BBC4D5"/>
                </a:solidFill>
                <a:latin typeface="Segoe UI Semibold"/>
              </a:rPr>
              <a:t>original_question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080760" y="1691640"/>
            <a:ext cx="5623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BC4D5"/>
                </a:solidFill>
                <a:latin typeface="Segoe UI"/>
              </a:rPr>
              <a:t>Raw user text — used for embedding (not expanded)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950208" y="2203704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BBC4D5"/>
                </a:solidFill>
                <a:latin typeface="Segoe UI Semibold"/>
              </a:rPr>
              <a:t>canonical_question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080760" y="2203704"/>
            <a:ext cx="5623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BC4D5"/>
                </a:solidFill>
                <a:latin typeface="Segoe UI"/>
              </a:rPr>
              <a:t>Normalised, cleaned question for BM25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822191" y="2679192"/>
            <a:ext cx="7982712" cy="47548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950208" y="2715768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B82C"/>
                </a:solidFill>
                <a:latin typeface="Segoe UI Semibold"/>
              </a:rPr>
              <a:t>context_dependent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080760" y="2715768"/>
            <a:ext cx="5623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BC4D5"/>
                </a:solidFill>
                <a:latin typeface="Segoe UI"/>
              </a:rPr>
              <a:t>True if follow-up (uses active_doc_ids, conversation topic)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950208" y="3227832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BBC4D5"/>
                </a:solidFill>
                <a:latin typeface="Segoe UI Semibold"/>
              </a:rPr>
              <a:t>intents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080760" y="3227832"/>
            <a:ext cx="5623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BC4D5"/>
                </a:solidFill>
                <a:latin typeface="Segoe UI"/>
              </a:rPr>
              <a:t>exact_lookup | broad_lookup | aggregate | list | ...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822191" y="3703320"/>
            <a:ext cx="7982712" cy="47548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950208" y="3739896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34D399"/>
                </a:solidFill>
                <a:latin typeface="Segoe UI Semibold"/>
              </a:rPr>
              <a:t>topic_hints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080760" y="3739896"/>
            <a:ext cx="5623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BC4D5"/>
                </a:solidFill>
                <a:latin typeface="Segoe UI"/>
              </a:rPr>
              <a:t>Inferred policy domain tags → metadata pre-filter boost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950208" y="425196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BBC4D5"/>
                </a:solidFill>
                <a:latin typeface="Segoe UI Semibold"/>
              </a:rPr>
              <a:t>expanded_terms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080760" y="4251960"/>
            <a:ext cx="5623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BC4D5"/>
                </a:solidFill>
                <a:latin typeface="Segoe UI"/>
              </a:rPr>
              <a:t>Synonyms + acronym expansions for BM25 recall lift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822191" y="4727448"/>
            <a:ext cx="7982712" cy="47548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950208" y="4764024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A78BFA"/>
                </a:solidFill>
                <a:latin typeface="Segoe UI Semibold"/>
              </a:rPr>
              <a:t>exact_match_expected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080760" y="4764024"/>
            <a:ext cx="5623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BC4D5"/>
                </a:solidFill>
                <a:latin typeface="Segoe UI"/>
              </a:rPr>
              <a:t>True → evidece mode = exact (tighter char limits)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950208" y="5276088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0D4C2"/>
                </a:solidFill>
                <a:latin typeface="Segoe UI Semibold"/>
              </a:rPr>
              <a:t>sub_questions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080760" y="5276088"/>
            <a:ext cx="5623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BC4D5"/>
                </a:solidFill>
                <a:latin typeface="Segoe UI"/>
              </a:rPr>
              <a:t>Compound question detection → separate retrieval per sub-Q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3794760" y="5715000"/>
            <a:ext cx="8074152" cy="749808"/>
          </a:xfrm>
          <a:prstGeom prst="roundRect">
            <a:avLst>
              <a:gd name="adj" fmla="val 10000"/>
            </a:avLst>
          </a:prstGeom>
          <a:solidFill>
            <a:srgbClr val="0F172A"/>
          </a:solidFill>
          <a:ln w="6350">
            <a:solidFill>
              <a:srgbClr val="00D4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931920" y="5742432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D4C2"/>
                </a:solidFill>
                <a:latin typeface="Segoe UI Semibold"/>
              </a:rPr>
              <a:t>Intent → Retrieval Mode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931920" y="5998464"/>
            <a:ext cx="78181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BC4D5"/>
                </a:solidFill>
                <a:latin typeface="Segoe UI"/>
              </a:rPr>
              <a:t>exact_lookup → top 2 docs × 4 sections × 3 to LLM  |  broad_lookup → top 6 docs × 6 sections × 8 to LLM  |  aggregate → FAQ evidence (top-30 hits cross-corpus)  |  context_dependent → reuses active_doc_ids from prior turn</a:t>
            </a:r>
          </a:p>
        </p:txBody>
      </p:sp>
      <p:sp>
        <p:nvSpPr>
          <p:cNvPr id="60" name="Rectangle 59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0A1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20040" y="6638544"/>
            <a:ext cx="9144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6580"/>
                </a:solidFill>
                <a:latin typeface="Segoe UI"/>
              </a:rPr>
              <a:t>PolicyGPT – Hybrid Search Architecture  |  Engineering Review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D4C2"/>
                </a:solidFill>
                <a:latin typeface="Segoe UI Semibold"/>
              </a:rPr>
              <a:t>12  DEPLOYMENT &amp; CONFIGURATION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41148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Segoe UI Semibold"/>
              </a:rPr>
              <a:t>Deployment &amp; Configuration Reference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97840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BC4D5"/>
                </a:solidFill>
                <a:latin typeface="Segoe UI"/>
              </a:rPr>
              <a:t>All knobs exposed as environment variables — zero code change for domain, model, or scale switches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143000"/>
            <a:ext cx="11521440" cy="16459"/>
          </a:xfrm>
          <a:prstGeom prst="rect">
            <a:avLst/>
          </a:prstGeom>
          <a:solidFill>
            <a:srgbClr val="1E3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20040" y="1261872"/>
            <a:ext cx="5715000" cy="1920240"/>
          </a:xfrm>
          <a:prstGeom prst="roundRect">
            <a:avLst>
              <a:gd name="adj" fmla="val 10000"/>
            </a:avLst>
          </a:prstGeom>
          <a:solidFill>
            <a:srgbClr val="16233E"/>
          </a:solidFill>
          <a:ln w="12700">
            <a:solidFill>
              <a:srgbClr val="388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325880"/>
            <a:ext cx="5440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388BFF"/>
                </a:solidFill>
                <a:latin typeface="Segoe UI Semibold"/>
              </a:rPr>
              <a:t>AI / Model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632" y="1627631"/>
            <a:ext cx="2286000" cy="3794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Segoe UI Semibold"/>
              </a:rPr>
              <a:t>ai_profile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07208" y="1627631"/>
            <a:ext cx="3108960" cy="3794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BC4D5"/>
                </a:solidFill>
                <a:latin typeface="Segoe UI"/>
              </a:rPr>
              <a:t>openai | bedrock-20b | bedrock-120b | bedrock-claude-sonnet-4-6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" y="2007107"/>
            <a:ext cx="2286000" cy="3794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Segoe UI Semibold"/>
              </a:rPr>
              <a:t>accuracy_profile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07208" y="2007107"/>
            <a:ext cx="3108960" cy="3794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BC4D5"/>
                </a:solidFill>
                <a:latin typeface="Segoe UI"/>
              </a:rPr>
              <a:t>vhigh | high | medium | low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" y="2386584"/>
            <a:ext cx="2286000" cy="3794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Segoe UI Semibold"/>
              </a:rPr>
              <a:t>runtime_cost_profile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07208" y="2386584"/>
            <a:ext cx="3108960" cy="3794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BC4D5"/>
                </a:solidFill>
                <a:latin typeface="Segoe UI"/>
              </a:rPr>
              <a:t>standard | aggressive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4632" y="2766060"/>
            <a:ext cx="2286000" cy="3794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Segoe UI Semibold"/>
              </a:rPr>
              <a:t>bedrock_region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07208" y="2766060"/>
            <a:ext cx="3108960" cy="3794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BC4D5"/>
                </a:solidFill>
                <a:latin typeface="Segoe UI"/>
              </a:rPr>
              <a:t>ap-south-1  (AWS Bedrock region)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1261872"/>
            <a:ext cx="5696712" cy="1920240"/>
          </a:xfrm>
          <a:prstGeom prst="roundRect">
            <a:avLst>
              <a:gd name="adj" fmla="val 10000"/>
            </a:avLst>
          </a:prstGeom>
          <a:solidFill>
            <a:srgbClr val="16233E"/>
          </a:solidFill>
          <a:ln w="12700">
            <a:solidFill>
              <a:srgbClr val="FFB8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09360" y="1325880"/>
            <a:ext cx="542239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B82C"/>
                </a:solidFill>
                <a:latin typeface="Segoe UI Semibold"/>
              </a:rPr>
              <a:t>Domain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36792" y="1627631"/>
            <a:ext cx="2286000" cy="3794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Segoe UI Semibold"/>
              </a:rPr>
              <a:t>domain_type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59368" y="1627631"/>
            <a:ext cx="3090672" cy="3794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BC4D5"/>
                </a:solidFill>
                <a:latin typeface="Segoe UI"/>
              </a:rPr>
              <a:t>policy | contest  (selects prompt, weights, OCR)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36792" y="2007107"/>
            <a:ext cx="2286000" cy="3794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Segoe UI Semibold"/>
              </a:rPr>
              <a:t>ingestion_user_ids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59368" y="2007107"/>
            <a:ext cx="3090672" cy="3794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BC4D5"/>
                </a:solidFill>
                <a:latin typeface="Segoe UI"/>
              </a:rPr>
              <a:t>Comma-separated user IDs, e.g. 100,200,301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36792" y="2386584"/>
            <a:ext cx="2286000" cy="3794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Segoe UI Semibold"/>
              </a:rPr>
              <a:t>document_folder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59368" y="2386584"/>
            <a:ext cx="3090672" cy="3794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BC4D5"/>
                </a:solidFill>
                <a:latin typeface="Segoe UI"/>
              </a:rPr>
              <a:t>Path to policy document directory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36792" y="2766060"/>
            <a:ext cx="2286000" cy="3794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Segoe UI Semibold"/>
              </a:rPr>
              <a:t>ocr_enabled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59368" y="2766060"/>
            <a:ext cx="3090672" cy="3794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BC4D5"/>
                </a:solidFill>
                <a:latin typeface="Segoe UI"/>
              </a:rPr>
              <a:t>True/False  (overridden per domain)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20040" y="3273552"/>
            <a:ext cx="5715000" cy="1920240"/>
          </a:xfrm>
          <a:prstGeom prst="roundRect">
            <a:avLst>
              <a:gd name="adj" fmla="val 10000"/>
            </a:avLst>
          </a:prstGeom>
          <a:solidFill>
            <a:srgbClr val="16233E"/>
          </a:solidFill>
          <a:ln w="12700">
            <a:solidFill>
              <a:srgbClr val="00D4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3337560"/>
            <a:ext cx="5440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0D4C2"/>
                </a:solidFill>
                <a:latin typeface="Segoe UI Semibold"/>
              </a:rPr>
              <a:t>OpenSearch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4632" y="3639312"/>
            <a:ext cx="2286000" cy="3035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Segoe UI Semibold"/>
              </a:rPr>
              <a:t>OS_HOST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807208" y="3639312"/>
            <a:ext cx="3108960" cy="3035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BC4D5"/>
                </a:solidFill>
                <a:latin typeface="Segoe UI"/>
              </a:rPr>
              <a:t>OpenSearch cluster hostname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4632" y="3942892"/>
            <a:ext cx="2286000" cy="3035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Segoe UI Semibold"/>
              </a:rPr>
              <a:t>OS_PORT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807208" y="3942892"/>
            <a:ext cx="3108960" cy="3035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BC4D5"/>
                </a:solidFill>
                <a:latin typeface="Segoe UI"/>
              </a:rPr>
              <a:t>9200 (default)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84632" y="4246473"/>
            <a:ext cx="2286000" cy="3035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Segoe UI Semibold"/>
              </a:rPr>
              <a:t>OS_USERNAME / OS_PASSWORD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807208" y="4246473"/>
            <a:ext cx="3108960" cy="3035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BC4D5"/>
                </a:solidFill>
                <a:latin typeface="Segoe UI"/>
              </a:rPr>
              <a:t>Credentials (load from env/secrets manager)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84632" y="4550054"/>
            <a:ext cx="2286000" cy="3035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Segoe UI Semibold"/>
              </a:rPr>
              <a:t>OS_INDEX_PREFIX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807208" y="4550054"/>
            <a:ext cx="3108960" cy="3035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BC4D5"/>
                </a:solidFill>
                <a:latin typeface="Segoe UI"/>
              </a:rPr>
              <a:t>policygpt  (renames all 4 indices)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84632" y="4853635"/>
            <a:ext cx="2286000" cy="3035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Segoe UI Semibold"/>
              </a:rPr>
              <a:t>OS_USE_SSL / OS_VERIFY_CERTS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807208" y="4853635"/>
            <a:ext cx="3108960" cy="3035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BC4D5"/>
                </a:solidFill>
                <a:latin typeface="Segoe UI"/>
              </a:rPr>
              <a:t>True/False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172200" y="3273552"/>
            <a:ext cx="5696712" cy="1920240"/>
          </a:xfrm>
          <a:prstGeom prst="roundRect">
            <a:avLst>
              <a:gd name="adj" fmla="val 10000"/>
            </a:avLst>
          </a:prstGeom>
          <a:solidFill>
            <a:srgbClr val="16233E"/>
          </a:solidFill>
          <a:ln w="127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309360" y="3337560"/>
            <a:ext cx="542239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A78BFA"/>
                </a:solidFill>
                <a:latin typeface="Segoe UI Semibold"/>
              </a:rPr>
              <a:t>Hybrid Search Weights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36792" y="3639312"/>
            <a:ext cx="2286000" cy="505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Segoe UI Semibold"/>
              </a:rPr>
              <a:t>hybrid_keyword_weight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659368" y="3639312"/>
            <a:ext cx="3090672" cy="505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BC4D5"/>
                </a:solidFill>
                <a:latin typeface="Segoe UI"/>
              </a:rPr>
              <a:t>0.30 default | 0.35 policy | 0.20 contest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36792" y="4145280"/>
            <a:ext cx="2286000" cy="505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Segoe UI Semibold"/>
              </a:rPr>
              <a:t>hybrid_similarity_weight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659368" y="4145280"/>
            <a:ext cx="3090672" cy="505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BC4D5"/>
                </a:solidFill>
                <a:latin typeface="Segoe UI"/>
              </a:rPr>
              <a:t>0.20 default | 0.15 both domains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36792" y="4651248"/>
            <a:ext cx="2286000" cy="505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Segoe UI Semibold"/>
              </a:rPr>
              <a:t>hybrid_vector_weight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659368" y="4651248"/>
            <a:ext cx="3090672" cy="505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BC4D5"/>
                </a:solidFill>
                <a:latin typeface="Segoe UI"/>
              </a:rPr>
              <a:t>0.50 default | 0.50 policy | 0.65 contest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320040" y="5285232"/>
            <a:ext cx="11548872" cy="1115568"/>
          </a:xfrm>
          <a:prstGeom prst="roundRect">
            <a:avLst>
              <a:gd name="adj" fmla="val 10000"/>
            </a:avLst>
          </a:prstGeom>
          <a:solidFill>
            <a:srgbClr val="16233E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57200" y="5349240"/>
            <a:ext cx="1127455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34D399"/>
                </a:solidFill>
                <a:latin typeface="Segoe UI Semibold"/>
              </a:rPr>
              <a:t>Retrieval Tuning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84632" y="5650992"/>
            <a:ext cx="2795778" cy="1783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BC4D5"/>
                </a:solidFill>
                <a:latin typeface="Segoe UI"/>
              </a:rPr>
              <a:t>faq_fastpath_min_score: 0.92  (lower = more fast-path hits)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371850" y="5829300"/>
            <a:ext cx="2795778" cy="1783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BC4D5"/>
                </a:solidFill>
                <a:latin typeface="Segoe UI"/>
              </a:rPr>
              <a:t>max_recent_messages: 6 (turns kept in LLM context window)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259068" y="6007608"/>
            <a:ext cx="2795778" cy="1783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BC4D5"/>
                </a:solidFill>
                <a:latin typeface="Segoe UI"/>
              </a:rPr>
              <a:t>summarize_after_turns: 8 (auto-summarise long conversations)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146286" y="6185916"/>
            <a:ext cx="2795778" cy="1783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BC4D5"/>
                </a:solidFill>
                <a:latin typeface="Segoe UI"/>
              </a:rPr>
              <a:t>top_docs / top_sections_per_doc: 3 / 5 (vhigh) – see accuracy_profile</a:t>
            </a:r>
          </a:p>
        </p:txBody>
      </p:sp>
      <p:sp>
        <p:nvSpPr>
          <p:cNvPr id="53" name="Rectangle 52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0A1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20040" y="6638544"/>
            <a:ext cx="9144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6580"/>
                </a:solidFill>
                <a:latin typeface="Segoe UI"/>
              </a:rPr>
              <a:t>PolicyGPT – Hybrid Search Architecture  |  Engineering Review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D4C2"/>
                </a:solidFill>
                <a:latin typeface="Segoe UI Semibold"/>
              </a:rPr>
              <a:t>13  OBSERVABILITY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41148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Segoe UI Semibold"/>
              </a:rPr>
              <a:t>Observability &amp; Key Metrics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97840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BC4D5"/>
                </a:solidFill>
                <a:latin typeface="Segoe UI"/>
              </a:rPr>
              <a:t>Built-in usage tracking, retrieval logs, and health endpoints for monitoring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143000"/>
            <a:ext cx="11521440" cy="16459"/>
          </a:xfrm>
          <a:prstGeom prst="rect">
            <a:avLst/>
          </a:prstGeom>
          <a:solidFill>
            <a:srgbClr val="1E3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20040" y="1261872"/>
            <a:ext cx="2834640" cy="3474720"/>
          </a:xfrm>
          <a:prstGeom prst="roundRect">
            <a:avLst>
              <a:gd name="adj" fmla="val 10000"/>
            </a:avLst>
          </a:prstGeom>
          <a:solidFill>
            <a:srgbClr val="16233E"/>
          </a:solidFill>
          <a:ln w="15240">
            <a:solidFill>
              <a:srgbClr val="FFB8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261872"/>
            <a:ext cx="2834640" cy="64008"/>
          </a:xfrm>
          <a:prstGeom prst="rect">
            <a:avLst/>
          </a:prstGeom>
          <a:solidFill>
            <a:srgbClr val="FFB8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8056" y="1353312"/>
            <a:ext cx="25786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B82C"/>
                </a:solidFill>
                <a:latin typeface="Segoe UI Semibold"/>
              </a:rPr>
              <a:t>LLM Usage Tracker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" y="1682496"/>
            <a:ext cx="2578608" cy="2971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BC4D5"/>
                </a:solidFill>
                <a:latin typeface="Segoe UI"/>
              </a:rPr>
              <a:t>Tracks per-request:
• Input tokens + cost (USD &amp; INR)
• Output tokens + cost
• Rolling totals across session
• Per-model pricing snapshot
• Exposed at GET /api/usage
• Live widget in UI sidebar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82696" y="1261872"/>
            <a:ext cx="2834640" cy="3474720"/>
          </a:xfrm>
          <a:prstGeom prst="roundRect">
            <a:avLst>
              <a:gd name="adj" fmla="val 10000"/>
            </a:avLst>
          </a:prstGeom>
          <a:solidFill>
            <a:srgbClr val="16233E"/>
          </a:solidFill>
          <a:ln w="15240">
            <a:solidFill>
              <a:srgbClr val="00D4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82696" y="1261872"/>
            <a:ext cx="2834640" cy="64008"/>
          </a:xfrm>
          <a:prstGeom prst="rect">
            <a:avLst/>
          </a:prstGeom>
          <a:solidFill>
            <a:srgbClr val="00D4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10712" y="1353312"/>
            <a:ext cx="25786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0D4C2"/>
                </a:solidFill>
                <a:latin typeface="Segoe UI Semibold"/>
              </a:rPr>
              <a:t>Health Endpoint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10712" y="1682496"/>
            <a:ext cx="2578608" cy="2971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BC4D5"/>
                </a:solidFill>
                <a:latin typeface="Segoe UI"/>
              </a:rPr>
              <a:t>GET /api/health returns:
• status: ready|ingesting|error
• document_count (live OS count)
• section_count (live OS count)
• thread_count (in-memory)
• ingestion progress %
• current_file being processed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45352" y="1261872"/>
            <a:ext cx="2834640" cy="3474720"/>
          </a:xfrm>
          <a:prstGeom prst="roundRect">
            <a:avLst>
              <a:gd name="adj" fmla="val 10000"/>
            </a:avLst>
          </a:prstGeom>
          <a:solidFill>
            <a:srgbClr val="16233E"/>
          </a:solidFill>
          <a:ln w="15240">
            <a:solidFill>
              <a:srgbClr val="388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45352" y="1261872"/>
            <a:ext cx="2834640" cy="64008"/>
          </a:xfrm>
          <a:prstGeom prst="rect">
            <a:avLst/>
          </a:prstGeom>
          <a:solidFill>
            <a:srgbClr val="38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73368" y="1353312"/>
            <a:ext cx="25786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388BFF"/>
                </a:solidFill>
                <a:latin typeface="Segoe UI Semibold"/>
              </a:rPr>
              <a:t>Retrieval Debug Log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73368" y="1682496"/>
            <a:ext cx="2578608" cy="2971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BC4D5"/>
                </a:solidFill>
                <a:latin typeface="Segoe UI"/>
              </a:rPr>
              <a:t>Per-query JSON log written to debug_log_dir:
• query_analysis fields
• retrieval_query string
• top docs + sections + scores
• is_answerable flag
• full LLM prompt payload
• final answer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208008" y="1261872"/>
            <a:ext cx="2834640" cy="3474720"/>
          </a:xfrm>
          <a:prstGeom prst="roundRect">
            <a:avLst>
              <a:gd name="adj" fmla="val 10000"/>
            </a:avLst>
          </a:prstGeom>
          <a:solidFill>
            <a:srgbClr val="16233E"/>
          </a:solidFill>
          <a:ln w="1524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208008" y="1261872"/>
            <a:ext cx="2834640" cy="64008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36024" y="1353312"/>
            <a:ext cx="25786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A78BFA"/>
                </a:solidFill>
                <a:latin typeface="Segoe UI Semibold"/>
              </a:rPr>
              <a:t>Ingestion Progress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36024" y="1682496"/>
            <a:ext cx="2578608" cy="2971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BC4D5"/>
                </a:solidFill>
                <a:latin typeface="Segoe UI"/>
              </a:rPr>
              <a:t>Real-time progress callbacks:
• processed_files / total_files
• current_file name
• percent complete
• Phase: extract|summarise|embed|index
• Streamed to UI via health poll (1.5s interval during indexing)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4864608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D4C2"/>
                </a:solidFill>
                <a:latin typeface="Segoe UI Semibold"/>
              </a:rPr>
              <a:t>Key Engineering Decisions &amp; Rationale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20040" y="5193792"/>
            <a:ext cx="11548872" cy="420624"/>
          </a:xfrm>
          <a:prstGeom prst="roundRect">
            <a:avLst>
              <a:gd name="adj" fmla="val 10000"/>
            </a:avLst>
          </a:prstGeom>
          <a:solidFill>
            <a:srgbClr val="16233E"/>
          </a:solidFill>
          <a:ln w="6350">
            <a:solidFill>
              <a:srgbClr val="1E3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20040" y="5193792"/>
            <a:ext cx="45720" cy="420624"/>
          </a:xfrm>
          <a:prstGeom prst="rect">
            <a:avLst/>
          </a:prstGeom>
          <a:solidFill>
            <a:srgbClr val="00D4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75488" y="5221224"/>
            <a:ext cx="3017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Segoe UI Semibold"/>
              </a:rPr>
              <a:t>Embedding on summary, not raw text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47872" y="5221224"/>
            <a:ext cx="8138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BC4D5"/>
                </a:solidFill>
                <a:latin typeface="Segoe UI"/>
              </a:rPr>
              <a:t>Raw text includes boilerplate, headers, formatting. Summaries are semantically dense — cosine similarity on summaries aligns with user intent better than noisy raw text.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20040" y="5669279"/>
            <a:ext cx="11548872" cy="420624"/>
          </a:xfrm>
          <a:prstGeom prst="roundRect">
            <a:avLst>
              <a:gd name="adj" fmla="val 10000"/>
            </a:avLst>
          </a:prstGeom>
          <a:solidFill>
            <a:srgbClr val="16233E"/>
          </a:solidFill>
          <a:ln w="6350">
            <a:solidFill>
              <a:srgbClr val="1E3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20040" y="5669279"/>
            <a:ext cx="45720" cy="420624"/>
          </a:xfrm>
          <a:prstGeom prst="rect">
            <a:avLst/>
          </a:prstGeom>
          <a:solidFill>
            <a:srgbClr val="00D4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75488" y="5696712"/>
            <a:ext cx="3017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Segoe UI Semibold"/>
              </a:rPr>
              <a:t>Concurrent search with ThreadPoolExecutor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47872" y="5696712"/>
            <a:ext cx="8138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BC4D5"/>
                </a:solidFill>
                <a:latin typeface="Segoe UI"/>
              </a:rPr>
              <a:t>All three search types run in parallel. Total latency = max(k, s, v) not k+s+v. Individual failures are absorbed — degraded results rather than errors.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20040" y="6144768"/>
            <a:ext cx="11548872" cy="420624"/>
          </a:xfrm>
          <a:prstGeom prst="roundRect">
            <a:avLst>
              <a:gd name="adj" fmla="val 10000"/>
            </a:avLst>
          </a:prstGeom>
          <a:solidFill>
            <a:srgbClr val="16233E"/>
          </a:solidFill>
          <a:ln w="6350">
            <a:solidFill>
              <a:srgbClr val="1E3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20040" y="6144768"/>
            <a:ext cx="45720" cy="420624"/>
          </a:xfrm>
          <a:prstGeom prst="rect">
            <a:avLst/>
          </a:prstGeom>
          <a:solidFill>
            <a:srgbClr val="00D4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75488" y="6172200"/>
            <a:ext cx="3017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Segoe UI Semibold"/>
              </a:rPr>
              <a:t>In-memory kNN matrix kept for fallback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47872" y="6172200"/>
            <a:ext cx="8138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BC4D5"/>
                </a:solidFill>
                <a:latin typeface="Segoe UI"/>
              </a:rPr>
              <a:t>When OS is unavailable or hybrid_search_enabled=False, the NumPy kNN matrix is used. corpus.rebuild_indexes() skips empty-embedding docs (OS-cached) to avoid np.vstack crashes.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0A1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20040" y="6638544"/>
            <a:ext cx="9144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6580"/>
                </a:solidFill>
                <a:latin typeface="Segoe UI"/>
              </a:rPr>
              <a:t>PolicyGPT – Hybrid Search Architecture  |  Engineering Review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00D4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64592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D4C2"/>
                </a:solidFill>
                <a:latin typeface="Segoe UI Semibold"/>
              </a:rPr>
              <a:t>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943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Segoe UI Semibold"/>
              </a:rPr>
              <a:t>What We Built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417320"/>
            <a:ext cx="11521440" cy="16459"/>
          </a:xfrm>
          <a:prstGeom prst="rect">
            <a:avLst/>
          </a:prstGeom>
          <a:solidFill>
            <a:srgbClr val="00D4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20040" y="1536192"/>
            <a:ext cx="5715000" cy="1005840"/>
          </a:xfrm>
          <a:prstGeom prst="roundRect">
            <a:avLst>
              <a:gd name="adj" fmla="val 10000"/>
            </a:avLst>
          </a:prstGeom>
          <a:solidFill>
            <a:srgbClr val="16233E"/>
          </a:solidFill>
          <a:ln w="12700">
            <a:solidFill>
              <a:srgbClr val="00D4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536192"/>
            <a:ext cx="54864" cy="1005840"/>
          </a:xfrm>
          <a:prstGeom prst="rect">
            <a:avLst/>
          </a:prstGeom>
          <a:solidFill>
            <a:srgbClr val="00D4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609344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D4C2"/>
                </a:solidFill>
                <a:latin typeface="Segoe UI Semibold"/>
              </a:rPr>
              <a:t>Hybrid Retrieval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920240"/>
            <a:ext cx="5394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BC4D5"/>
                </a:solidFill>
                <a:latin typeface="Segoe UI"/>
              </a:rPr>
              <a:t>3-channel search (BM25 + MLT + kNN) blended with min-max normalisation and configurable weights per domain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536192"/>
            <a:ext cx="5715000" cy="1005840"/>
          </a:xfrm>
          <a:prstGeom prst="roundRect">
            <a:avLst>
              <a:gd name="adj" fmla="val 10000"/>
            </a:avLst>
          </a:prstGeom>
          <a:solidFill>
            <a:srgbClr val="16233E"/>
          </a:solidFill>
          <a:ln w="12700">
            <a:solidFill>
              <a:srgbClr val="388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536192"/>
            <a:ext cx="54864" cy="1005840"/>
          </a:xfrm>
          <a:prstGeom prst="rect">
            <a:avLst/>
          </a:prstGeom>
          <a:solidFill>
            <a:srgbClr val="38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609344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88BFF"/>
                </a:solidFill>
                <a:latin typeface="Segoe UI Semibold"/>
              </a:rPr>
              <a:t>Decoupled Ingestion &amp; Retrieval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1920240"/>
            <a:ext cx="5394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BC4D5"/>
                </a:solidFill>
                <a:latin typeface="Segoe UI"/>
              </a:rPr>
              <a:t>Background async ingestion; server is 'ready' immediately; retrieval goes straight to OpenSearch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20040" y="2670048"/>
            <a:ext cx="5715000" cy="1005840"/>
          </a:xfrm>
          <a:prstGeom prst="roundRect">
            <a:avLst>
              <a:gd name="adj" fmla="val 10000"/>
            </a:avLst>
          </a:prstGeom>
          <a:solidFill>
            <a:srgbClr val="16233E"/>
          </a:solidFill>
          <a:ln w="127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20040" y="2670048"/>
            <a:ext cx="54864" cy="100584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2743200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A78BFA"/>
                </a:solidFill>
                <a:latin typeface="Segoe UI Semibold"/>
              </a:rPr>
              <a:t>FAQ Fast-Path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3054096"/>
            <a:ext cx="5394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BC4D5"/>
                </a:solidFill>
                <a:latin typeface="Segoe UI"/>
              </a:rPr>
              <a:t>Pre-generated Q/A index with kNN lookup bypasses RAG entirely for high-frequency queries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2670048"/>
            <a:ext cx="5715000" cy="1005840"/>
          </a:xfrm>
          <a:prstGeom prst="roundRect">
            <a:avLst>
              <a:gd name="adj" fmla="val 10000"/>
            </a:avLst>
          </a:prstGeom>
          <a:solidFill>
            <a:srgbClr val="16233E"/>
          </a:solidFill>
          <a:ln w="12700">
            <a:solidFill>
              <a:srgbClr val="FFB8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17920" y="2670048"/>
            <a:ext cx="54864" cy="1005840"/>
          </a:xfrm>
          <a:prstGeom prst="rect">
            <a:avLst/>
          </a:prstGeom>
          <a:solidFill>
            <a:srgbClr val="FFB8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2743200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B82C"/>
                </a:solidFill>
                <a:latin typeface="Segoe UI Semibold"/>
              </a:rPr>
              <a:t>Domain Optimisation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3054096"/>
            <a:ext cx="5394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BC4D5"/>
                </a:solidFill>
                <a:latin typeface="Segoe UI"/>
              </a:rPr>
              <a:t>Single domain_type switch changes weights, OCR, token budgets, prompts — no code changes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20040" y="3803904"/>
            <a:ext cx="5715000" cy="1005840"/>
          </a:xfrm>
          <a:prstGeom prst="roundRect">
            <a:avLst>
              <a:gd name="adj" fmla="val 10000"/>
            </a:avLst>
          </a:prstGeom>
          <a:solidFill>
            <a:srgbClr val="16233E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20040" y="3803904"/>
            <a:ext cx="54864" cy="100584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" y="3877056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4D399"/>
                </a:solidFill>
                <a:latin typeface="Segoe UI Semibold"/>
              </a:rPr>
              <a:t>Permission-Native Security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4187952"/>
            <a:ext cx="5394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BC4D5"/>
                </a:solidFill>
                <a:latin typeface="Segoe UI"/>
              </a:rPr>
              <a:t>user_ids array on every OS document; pre-filter at query time; zero post-hoc filtering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17920" y="3803904"/>
            <a:ext cx="5715000" cy="1005840"/>
          </a:xfrm>
          <a:prstGeom prst="roundRect">
            <a:avLst>
              <a:gd name="adj" fmla="val 10000"/>
            </a:avLst>
          </a:prstGeom>
          <a:solidFill>
            <a:srgbClr val="16233E"/>
          </a:solidFill>
          <a:ln w="12700">
            <a:solidFill>
              <a:srgbClr val="00D4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17920" y="3803904"/>
            <a:ext cx="54864" cy="1005840"/>
          </a:xfrm>
          <a:prstGeom prst="rect">
            <a:avLst/>
          </a:prstGeom>
          <a:solidFill>
            <a:srgbClr val="00D4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0" y="3877056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D4C2"/>
                </a:solidFill>
                <a:latin typeface="Segoe UI Semibold"/>
              </a:rPr>
              <a:t>Full Conversation Memory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4187952"/>
            <a:ext cx="5394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BC4D5"/>
                </a:solidFill>
                <a:latin typeface="Segoe UI"/>
              </a:rPr>
              <a:t>recent_messages for LLM context; display_messages accumulated in OS; auto-summarisation at 8 turns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20040" y="4937759"/>
            <a:ext cx="5715000" cy="1005840"/>
          </a:xfrm>
          <a:prstGeom prst="roundRect">
            <a:avLst>
              <a:gd name="adj" fmla="val 10000"/>
            </a:avLst>
          </a:prstGeom>
          <a:solidFill>
            <a:srgbClr val="16233E"/>
          </a:solidFill>
          <a:ln w="12700">
            <a:solidFill>
              <a:srgbClr val="388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20040" y="4937759"/>
            <a:ext cx="54864" cy="1005840"/>
          </a:xfrm>
          <a:prstGeom prst="rect">
            <a:avLst/>
          </a:prstGeom>
          <a:solidFill>
            <a:srgbClr val="38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02920" y="5010912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88BFF"/>
                </a:solidFill>
                <a:latin typeface="Segoe UI Semibold"/>
              </a:rPr>
              <a:t>Pluggable Backends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" y="5321807"/>
            <a:ext cx="5394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BC4D5"/>
                </a:solidFill>
                <a:latin typeface="Segoe UI"/>
              </a:rPr>
              <a:t>VectorStore abstract port; swap opensearch → pinecone / weaviate / pgvector with zero other changes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17920" y="4937759"/>
            <a:ext cx="5715000" cy="1005840"/>
          </a:xfrm>
          <a:prstGeom prst="roundRect">
            <a:avLst>
              <a:gd name="adj" fmla="val 10000"/>
            </a:avLst>
          </a:prstGeom>
          <a:solidFill>
            <a:srgbClr val="16233E"/>
          </a:solidFill>
          <a:ln w="127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217920" y="4937759"/>
            <a:ext cx="54864" cy="100584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00800" y="5010912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A78BFA"/>
                </a:solidFill>
                <a:latin typeface="Segoe UI Semibold"/>
              </a:rPr>
              <a:t>Observable &amp; Tunable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0" y="5321807"/>
            <a:ext cx="5394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BC4D5"/>
                </a:solidFill>
                <a:latin typeface="Segoe UI"/>
              </a:rPr>
              <a:t>Usage tracker, retrieval logs, health endpoint, accuracy profiles, runtime cost profiles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0A1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20040" y="6638544"/>
            <a:ext cx="9144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6580"/>
                </a:solidFill>
                <a:latin typeface="Segoe UI"/>
              </a:rPr>
              <a:t>PolicyGPT – Hybrid Search Architecture  |  Engineering Review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